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86C87-CC82-F76E-5F59-2097D09707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28AC78-5AE3-973D-F6FE-5BD65DAD8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319598-F038-A166-4EB0-CAF315F7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76DA-BFEC-491B-BDA3-4135B3CCCCA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8F57FE-7B72-F7D0-8671-5C6AA23E0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DFF8DD-A487-7B98-6055-46D324BA9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9584-D260-416A-85C4-59F21658E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727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7296EB-C40C-C243-F106-C81A48EDB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9840A4-FBB7-36E5-E24E-8A1730EFA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039F76-A6B7-E501-4807-264F23269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76DA-BFEC-491B-BDA3-4135B3CCCCA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8F980A-E7F0-3FD9-A87F-0DBE52794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8F40F4-2279-DBF8-7EA7-7EA77EF6E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9584-D260-416A-85C4-59F21658E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187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262154-F8DE-BEC9-CBB0-F3ECAC631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ED0EA2-5516-CD07-CE4B-D5404761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598F73-1C6D-D0FC-41B0-ACDCAE76D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76DA-BFEC-491B-BDA3-4135B3CCCCA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CC0748-0944-6A0D-80A6-C04E34728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14C784-51D4-81B7-AB95-CE72EF994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9584-D260-416A-85C4-59F21658E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77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54984-CFBD-B1E4-FECB-236FF0F2B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097748-4B01-29C8-B65E-7C6CFF341A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42E412-5A75-0E92-A114-EE1339BF3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F2EB5F-6AC1-DCDA-317D-E37204641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76DA-BFEC-491B-BDA3-4135B3CCCCA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07E590-3A6D-4D55-62DB-2EC2BA7DE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9900B1-793C-FC4D-20C3-0F87D7E60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9584-D260-416A-85C4-59F21658E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114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EDC50-93E5-748D-719B-668966AE6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CABF83-2168-4D77-B880-9B68FEF92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024C0D-50CC-0621-A031-F6D2272D3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BD8B071-3CB6-F4FF-6147-E8EA9AB039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BD4343-1FB1-E655-3B4C-DED748FA35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860F74-93EB-5E66-83BC-3F25F6092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76DA-BFEC-491B-BDA3-4135B3CCCCA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55848F-8B87-C9E1-C4EE-00927DF00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852D6D-848E-5F0A-C768-740ADDE6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9584-D260-416A-85C4-59F21658E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565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5B364-F0A3-6FA8-30A7-524D38D61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31A6C32-0769-8476-1F81-6461BEDA7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76DA-BFEC-491B-BDA3-4135B3CCCCA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B85687-EF36-659A-5A0C-CF8469721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A066D5-5BD1-5F38-5BEE-A99E41BA3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9584-D260-416A-85C4-59F21658E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115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7F9AAC-351E-58D9-7C2B-594937D2F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76DA-BFEC-491B-BDA3-4135B3CCCCA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C25C81-FA16-4C61-A9E6-28A1F9001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C81A2C-50F6-B6D6-8C7E-58C187BF2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9584-D260-416A-85C4-59F21658E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501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2A111-3F68-E858-CE45-581CA9A87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528FEF-CB58-8EF4-0E9F-90498A9B1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B604CE-78BC-1F4C-4C43-85D8645C3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A95EAF-325E-C664-34A2-2D5F55E9C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76DA-BFEC-491B-BDA3-4135B3CCCCA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7DB8B0-32AB-6694-4BE7-159528EB4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96C5B-6F15-44C3-619D-F75E1FAD6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9584-D260-416A-85C4-59F21658E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53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16FC6-A5C4-AE43-52F7-103A7CB0C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DA79F0-352A-A578-9119-2C4AB87CD14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4FA6E3-110C-6F61-1871-BAE9A2B34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22878A-77F5-6BC2-A643-C653FCD05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76DA-BFEC-491B-BDA3-4135B3CCCCA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0ACCFA-A3F2-82BA-6289-D1C2ECD21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676872-1367-280E-9C6C-A954E0C4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9584-D260-416A-85C4-59F21658E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487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9AA0E5-7EA8-1423-0A1A-8471916C8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C9CF5F-45AC-D07C-F763-E7AE0AB18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BCCCAD-0FD5-C9BB-4A7B-B45EE94D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76DA-BFEC-491B-BDA3-4135B3CCCCA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0A084A-F3D6-FF8C-E108-59C81AE83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E8EC51-92E6-AB1F-BBAE-9EE6033C8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9584-D260-416A-85C4-59F21658E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618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483EDF-C615-8EB8-4AE7-C88866E82D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B46EB1-9633-2CA2-8B10-26102DEC9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48A99F-5FA4-538D-718C-1D35DD230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76DA-BFEC-491B-BDA3-4135B3CCCCA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C65149-6DA3-DEDA-16E4-1327379A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A1E19-23D8-97B6-E399-FA197140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9584-D260-416A-85C4-59F21658E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968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BFB5DE-6FD3-56AE-797B-EAF4E33AE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D44041-BBD2-8999-B3FA-4197BF4F2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D6058A-8A6F-6A40-111E-555CAF47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876DA-BFEC-491B-BDA3-4135B3CCCCA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6DBED1-A143-3433-8FBF-379424B00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C3F4EB-4006-468B-383F-9972F82F7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9584-D260-416A-85C4-59F21658E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816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21FC59-7AA5-5AE5-62F1-2EA2E452D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5465EB-7649-0264-C72E-F11A47004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9F1B92-0BF8-5093-BCD9-83FF68B5D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3876DA-BFEC-491B-BDA3-4135B3CCCCA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CA57F9-5B2C-65DD-EE34-04DEA60CA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CB7D65-C185-7CC7-CB14-BF32DB843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FC9584-D260-416A-85C4-59F21658E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69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B6070-3BAD-CCD8-279A-CB417EE48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6600" b="1">
                <a:solidFill>
                  <a:srgbClr val="0F172A"/>
                </a:solidFill>
              </a:rPr>
              <a:t>MarioCode</a:t>
            </a:r>
            <a:endParaRPr lang="zh-CN" altLang="en-US" sz="6600" b="1">
              <a:solidFill>
                <a:srgbClr val="0F172A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B0090B-F7F4-E577-1F1E-0A9B6093EC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2000">
                <a:solidFill>
                  <a:srgbClr val="475569"/>
                </a:solidFill>
              </a:rPr>
              <a:t>Free, Open-Source Desktop GUI for Coding Agents</a:t>
            </a:r>
          </a:p>
          <a:p>
            <a:r>
              <a:rPr lang="en-US" altLang="zh-CN" sz="2000">
                <a:solidFill>
                  <a:srgbClr val="475569"/>
                </a:solidFill>
              </a:rPr>
              <a:t>Claude Code </a:t>
            </a:r>
            <a:r>
              <a:rPr lang="zh-CN" altLang="en-US" sz="2000">
                <a:solidFill>
                  <a:srgbClr val="475569"/>
                </a:solidFill>
              </a:rPr>
              <a:t>路 </a:t>
            </a:r>
            <a:r>
              <a:rPr lang="en-US" altLang="zh-CN" sz="2000">
                <a:solidFill>
                  <a:srgbClr val="475569"/>
                </a:solidFill>
              </a:rPr>
              <a:t>Codex </a:t>
            </a:r>
            <a:r>
              <a:rPr lang="zh-CN" altLang="en-US" sz="2000">
                <a:solidFill>
                  <a:srgbClr val="475569"/>
                </a:solidFill>
              </a:rPr>
              <a:t>路 </a:t>
            </a:r>
            <a:r>
              <a:rPr lang="en-US" altLang="zh-CN" sz="2000">
                <a:solidFill>
                  <a:srgbClr val="475569"/>
                </a:solidFill>
              </a:rPr>
              <a:t>Pi in One App</a:t>
            </a:r>
            <a:endParaRPr lang="zh-CN" altLang="en-US" sz="200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899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62150-A046-74B6-3B5E-7C5E7F58F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>
                <a:solidFill>
                  <a:srgbClr val="0F172A"/>
                </a:solidFill>
              </a:rPr>
              <a:t>What is MarioCode?</a:t>
            </a:r>
            <a:endParaRPr lang="zh-CN" altLang="en-US" b="1">
              <a:solidFill>
                <a:srgbClr val="0F172A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68A1D4-CEFD-11B8-13A8-39C41CC7C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CDE269-099D-CDAF-9CAE-199375E483C7}"/>
              </a:ext>
            </a:extLst>
          </p:cNvPr>
          <p:cNvSpPr txBox="1"/>
          <p:nvPr/>
        </p:nvSpPr>
        <p:spPr>
          <a:xfrm>
            <a:off x="1016000" y="1905000"/>
            <a:ext cx="10160000" cy="258532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>
                <a:solidFill>
                  <a:srgbClr val="334155"/>
                </a:solidFill>
              </a:rPr>
              <a:t>A three-pane AI IDE built on official Agent SDKs:</a:t>
            </a:r>
          </a:p>
          <a:p>
            <a:endParaRPr lang="en-US" altLang="zh-CN">
              <a:solidFill>
                <a:srgbClr val="334155"/>
              </a:solidFill>
            </a:endParaRPr>
          </a:p>
          <a:p>
            <a:r>
              <a:rPr lang="zh-CN" altLang="en-US">
                <a:solidFill>
                  <a:srgbClr val="334155"/>
                </a:solidFill>
              </a:rPr>
              <a:t>鈥</a:t>
            </a:r>
            <a:r>
              <a:rPr lang="en-US" altLang="zh-CN">
                <a:solidFill>
                  <a:srgbClr val="334155"/>
                </a:solidFill>
              </a:rPr>
              <a:t>?Claude Agent SDK (@anthropic-ai/claude-agent-sdk)</a:t>
            </a:r>
          </a:p>
          <a:p>
            <a:r>
              <a:rPr lang="zh-CN" altLang="en-US">
                <a:solidFill>
                  <a:srgbClr val="334155"/>
                </a:solidFill>
              </a:rPr>
              <a:t>鈥</a:t>
            </a:r>
            <a:r>
              <a:rPr lang="en-US" altLang="zh-CN">
                <a:solidFill>
                  <a:srgbClr val="334155"/>
                </a:solidFill>
              </a:rPr>
              <a:t>?OpenAI Codex SDK (@openai/codex)</a:t>
            </a:r>
          </a:p>
          <a:p>
            <a:r>
              <a:rPr lang="zh-CN" altLang="en-US">
                <a:solidFill>
                  <a:srgbClr val="334155"/>
                </a:solidFill>
              </a:rPr>
              <a:t>鈥</a:t>
            </a:r>
            <a:r>
              <a:rPr lang="en-US" altLang="zh-CN">
                <a:solidFill>
                  <a:srgbClr val="334155"/>
                </a:solidFill>
              </a:rPr>
              <a:t>?Pi Coding Agent SDK (@earendil-works/pi-coding-agent)</a:t>
            </a:r>
          </a:p>
          <a:p>
            <a:endParaRPr lang="en-US" altLang="zh-CN">
              <a:solidFill>
                <a:srgbClr val="334155"/>
              </a:solidFill>
            </a:endParaRPr>
          </a:p>
          <a:p>
            <a:r>
              <a:rPr lang="en-US" altLang="zh-CN">
                <a:solidFill>
                  <a:srgbClr val="334155"/>
                </a:solidFill>
              </a:rPr>
              <a:t>Does NOT reimplement the agent </a:t>
            </a:r>
            <a:r>
              <a:rPr lang="zh-CN" altLang="en-US">
                <a:solidFill>
                  <a:srgbClr val="334155"/>
                </a:solidFill>
              </a:rPr>
              <a:t>鈥</a:t>
            </a:r>
            <a:r>
              <a:rPr lang="en-US" altLang="zh-CN">
                <a:solidFill>
                  <a:srgbClr val="334155"/>
                </a:solidFill>
              </a:rPr>
              <a:t>?provides the complete interaction surface:</a:t>
            </a:r>
          </a:p>
          <a:p>
            <a:r>
              <a:rPr lang="en-US" altLang="zh-CN">
                <a:solidFill>
                  <a:srgbClr val="334155"/>
                </a:solidFill>
              </a:rPr>
              <a:t>Real-time streaming, tool approval, plan mode, Monaco editor, git, terminal, embedded browser, LSP, and mobile remote control.</a:t>
            </a:r>
            <a:endParaRPr lang="zh-CN" altLang="en-US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673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83BAF-1544-2C5C-F179-D037E745E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>
                <a:solidFill>
                  <a:srgbClr val="0F172A"/>
                </a:solidFill>
              </a:rPr>
              <a:t>Key Highlights</a:t>
            </a:r>
            <a:endParaRPr lang="zh-CN" altLang="en-US" b="1">
              <a:solidFill>
                <a:srgbClr val="0F172A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80BA19-8620-97EE-B2B2-BEB4DC6BA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DB681C-4E92-61AC-D641-8F76BC8992CF}"/>
              </a:ext>
            </a:extLst>
          </p:cNvPr>
          <p:cNvSpPr txBox="1"/>
          <p:nvPr/>
        </p:nvSpPr>
        <p:spPr>
          <a:xfrm>
            <a:off x="1016000" y="1905000"/>
            <a:ext cx="10160000" cy="25545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solidFill>
                  <a:srgbClr val="334155"/>
                </a:solidFill>
              </a:rPr>
              <a:t>Multi-provider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?Claude, Codex, Pi in one app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Real-time streaming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?token-by-token live output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Tool approval UI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?allow / always-allow / deny with queue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Plan mode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?research </a:t>
            </a:r>
            <a:r>
              <a:rPr lang="zh-CN" altLang="en-US" sz="1600">
                <a:solidFill>
                  <a:srgbClr val="334155"/>
                </a:solidFill>
              </a:rPr>
              <a:t>鈫</a:t>
            </a:r>
            <a:r>
              <a:rPr lang="en-US" altLang="zh-CN" sz="1600">
                <a:solidFill>
                  <a:srgbClr val="334155"/>
                </a:solidFill>
              </a:rPr>
              <a:t>?approval </a:t>
            </a:r>
            <a:r>
              <a:rPr lang="zh-CN" altLang="en-US" sz="1600">
                <a:solidFill>
                  <a:srgbClr val="334155"/>
                </a:solidFill>
              </a:rPr>
              <a:t>鈫</a:t>
            </a:r>
            <a:r>
              <a:rPr lang="en-US" altLang="zh-CN" sz="1600">
                <a:solidFill>
                  <a:srgbClr val="334155"/>
                </a:solidFill>
              </a:rPr>
              <a:t>?execute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Plugins &amp; MCP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?skills, commands, MCP servers for all engines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Worktree sessions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?parallel sessions in isolated git worktrees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Full IDE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?Monaco, diff, multi-repo git, terminal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Embedded browser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?agent automation + element picking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Mobile remote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?LAN or SSH tunnel, full control from phone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MIT licensed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?free forever, no tracking</a:t>
            </a:r>
            <a:endParaRPr lang="zh-CN" altLang="en-US" sz="160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657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DFFC36-1424-8025-7D18-4EE428307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>
                <a:solidFill>
                  <a:srgbClr val="0F172A"/>
                </a:solidFill>
              </a:rPr>
              <a:t>Tech Stack</a:t>
            </a:r>
            <a:endParaRPr lang="zh-CN" altLang="en-US" b="1">
              <a:solidFill>
                <a:srgbClr val="0F172A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ECF594-FF40-02F9-9009-F8983BE38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7997EC-03F3-438D-DF9D-FA09B155CB78}"/>
              </a:ext>
            </a:extLst>
          </p:cNvPr>
          <p:cNvSpPr txBox="1"/>
          <p:nvPr/>
        </p:nvSpPr>
        <p:spPr>
          <a:xfrm>
            <a:off x="1016000" y="1905000"/>
            <a:ext cx="10160000" cy="34163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>
                <a:solidFill>
                  <a:srgbClr val="334155"/>
                </a:solidFill>
              </a:rPr>
              <a:t>Shell: Electron 33, electron-vite, electron-builder 25</a:t>
            </a:r>
          </a:p>
          <a:p>
            <a:endParaRPr lang="en-US" altLang="zh-CN">
              <a:solidFill>
                <a:srgbClr val="334155"/>
              </a:solidFill>
            </a:endParaRPr>
          </a:p>
          <a:p>
            <a:r>
              <a:rPr lang="en-US" altLang="zh-CN">
                <a:solidFill>
                  <a:srgbClr val="334155"/>
                </a:solidFill>
              </a:rPr>
              <a:t>Frontend: React 19, Zustand 5, Tailwind CSS 3, @base-ui/react</a:t>
            </a:r>
          </a:p>
          <a:p>
            <a:endParaRPr lang="en-US" altLang="zh-CN">
              <a:solidFill>
                <a:srgbClr val="334155"/>
              </a:solidFill>
            </a:endParaRPr>
          </a:p>
          <a:p>
            <a:r>
              <a:rPr lang="en-US" altLang="zh-CN">
                <a:solidFill>
                  <a:srgbClr val="334155"/>
                </a:solidFill>
              </a:rPr>
              <a:t>Editor / Terminal: Monaco Editor, xterm.js + node-pty</a:t>
            </a:r>
          </a:p>
          <a:p>
            <a:endParaRPr lang="en-US" altLang="zh-CN">
              <a:solidFill>
                <a:srgbClr val="334155"/>
              </a:solidFill>
            </a:endParaRPr>
          </a:p>
          <a:p>
            <a:r>
              <a:rPr lang="en-US" altLang="zh-CN">
                <a:solidFill>
                  <a:srgbClr val="334155"/>
                </a:solidFill>
              </a:rPr>
              <a:t>Agent: @anthropic-ai/claude-agent-sdk, @openai/codex,</a:t>
            </a:r>
          </a:p>
          <a:p>
            <a:r>
              <a:rPr lang="en-US" altLang="zh-CN">
                <a:solidFill>
                  <a:srgbClr val="334155"/>
                </a:solidFill>
              </a:rPr>
              <a:t>            @earendil-works/pi-coding-agent</a:t>
            </a:r>
          </a:p>
          <a:p>
            <a:endParaRPr lang="en-US" altLang="zh-CN">
              <a:solidFill>
                <a:srgbClr val="334155"/>
              </a:solidFill>
            </a:endParaRPr>
          </a:p>
          <a:p>
            <a:r>
              <a:rPr lang="en-US" altLang="zh-CN">
                <a:solidFill>
                  <a:srgbClr val="334155"/>
                </a:solidFill>
              </a:rPr>
              <a:t>Persistence: better-sqlite3 (synchronous SQLite)</a:t>
            </a:r>
          </a:p>
          <a:p>
            <a:endParaRPr lang="en-US" altLang="zh-CN">
              <a:solidFill>
                <a:srgbClr val="334155"/>
              </a:solidFill>
            </a:endParaRPr>
          </a:p>
          <a:p>
            <a:r>
              <a:rPr lang="en-US" altLang="zh-CN">
                <a:solidFill>
                  <a:srgbClr val="334155"/>
                </a:solidFill>
              </a:rPr>
              <a:t>Tooling: pnpm 11, Turbo, TypeScript 5 (strict)</a:t>
            </a:r>
            <a:endParaRPr lang="zh-CN" altLang="en-US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287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08AEF4-20E3-B592-172B-8DAAC71B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>
                <a:solidFill>
                  <a:srgbClr val="0F172A"/>
                </a:solidFill>
              </a:rPr>
              <a:t>Architecture</a:t>
            </a:r>
            <a:endParaRPr lang="zh-CN" altLang="en-US" b="1">
              <a:solidFill>
                <a:srgbClr val="0F172A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189F36-D543-16AC-EDBA-967B394A0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B2EC82-D076-E8C7-826E-0B02E8BF53D3}"/>
              </a:ext>
            </a:extLst>
          </p:cNvPr>
          <p:cNvSpPr txBox="1"/>
          <p:nvPr/>
        </p:nvSpPr>
        <p:spPr>
          <a:xfrm>
            <a:off x="1016000" y="1905000"/>
            <a:ext cx="10160000" cy="329320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solidFill>
                  <a:srgbClr val="334155"/>
                </a:solidFill>
              </a:rPr>
              <a:t>Three-pane layout:</a:t>
            </a:r>
          </a:p>
          <a:p>
            <a:endParaRPr lang="en-US" altLang="zh-CN" sz="1600">
              <a:solidFill>
                <a:srgbClr val="334155"/>
              </a:solidFill>
            </a:endParaRPr>
          </a:p>
          <a:p>
            <a:r>
              <a:rPr lang="en-US" altLang="zh-CN" sz="1600">
                <a:solidFill>
                  <a:srgbClr val="334155"/>
                </a:solidFill>
              </a:rPr>
              <a:t>Left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?Projects &amp; session sidebar (tree or stream mode)</a:t>
            </a:r>
          </a:p>
          <a:p>
            <a:endParaRPr lang="en-US" altLang="zh-CN" sz="1600">
              <a:solidFill>
                <a:srgbClr val="334155"/>
              </a:solidFill>
            </a:endParaRPr>
          </a:p>
          <a:p>
            <a:r>
              <a:rPr lang="en-US" altLang="zh-CN" sz="1600">
                <a:solidFill>
                  <a:srgbClr val="334155"/>
                </a:solidFill>
              </a:rPr>
              <a:t>Center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?Real-time conversation with structured cards: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     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?Streaming text, thinking, tool calls, tool results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     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?Tool approval prompts (inline)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     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?Plan mode review panel</a:t>
            </a:r>
          </a:p>
          <a:p>
            <a:endParaRPr lang="en-US" altLang="zh-CN" sz="1600">
              <a:solidFill>
                <a:srgbClr val="334155"/>
              </a:solidFill>
            </a:endParaRPr>
          </a:p>
          <a:p>
            <a:r>
              <a:rPr lang="en-US" altLang="zh-CN" sz="1600">
                <a:solidFill>
                  <a:srgbClr val="334155"/>
                </a:solidFill>
              </a:rPr>
              <a:t>Right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?File tree, Monaco editor (Edit/Diff/Preview),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      multi-repo git, embedded browser</a:t>
            </a:r>
          </a:p>
          <a:p>
            <a:endParaRPr lang="en-US" altLang="zh-CN" sz="1600">
              <a:solidFill>
                <a:srgbClr val="334155"/>
              </a:solidFill>
            </a:endParaRPr>
          </a:p>
          <a:p>
            <a:r>
              <a:rPr lang="en-US" altLang="zh-CN" sz="1600">
                <a:solidFill>
                  <a:srgbClr val="334155"/>
                </a:solidFill>
              </a:rPr>
              <a:t>Bottom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?Multi-tab terminal (xterm.js + node-pty)</a:t>
            </a:r>
            <a:endParaRPr lang="zh-CN" altLang="en-US" sz="160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366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BC203-3B4D-66F5-B016-4C1897979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>
                <a:solidFill>
                  <a:srgbClr val="0F172A"/>
                </a:solidFill>
              </a:rPr>
              <a:t>Multi-Provider Design</a:t>
            </a:r>
            <a:endParaRPr lang="zh-CN" altLang="en-US" b="1">
              <a:solidFill>
                <a:srgbClr val="0F172A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AEDC2E-CED9-0366-F1F4-7E3DE9716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7AB0CD-F59F-41C2-E2CB-19EA4088C446}"/>
              </a:ext>
            </a:extLst>
          </p:cNvPr>
          <p:cNvSpPr txBox="1"/>
          <p:nvPr/>
        </p:nvSpPr>
        <p:spPr>
          <a:xfrm>
            <a:off x="1016000" y="1905000"/>
            <a:ext cx="10160000" cy="35394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solidFill>
                  <a:srgbClr val="334155"/>
                </a:solidFill>
              </a:rPr>
              <a:t>Provider abstraction layer (AgentProvider interface):</a:t>
            </a:r>
          </a:p>
          <a:p>
            <a:endParaRPr lang="en-US" altLang="zh-CN" sz="1600">
              <a:solidFill>
                <a:srgbClr val="334155"/>
              </a:solidFill>
            </a:endParaRPr>
          </a:p>
          <a:p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?Claude provider </a:t>
            </a:r>
            <a:r>
              <a:rPr lang="zh-CN" altLang="en-US" sz="1600">
                <a:solidFill>
                  <a:srgbClr val="334155"/>
                </a:solidFill>
              </a:rPr>
              <a:t>鈫</a:t>
            </a:r>
            <a:r>
              <a:rPr lang="en-US" altLang="zh-CN" sz="1600">
                <a:solidFill>
                  <a:srgbClr val="334155"/>
                </a:solidFill>
              </a:rPr>
              <a:t>?@anthropic-ai/claude-agent-sdk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   Uses Anthropic API key, supports all Claude models</a:t>
            </a:r>
          </a:p>
          <a:p>
            <a:endParaRPr lang="en-US" altLang="zh-CN" sz="1600">
              <a:solidFill>
                <a:srgbClr val="334155"/>
              </a:solidFill>
            </a:endParaRPr>
          </a:p>
          <a:p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?Codex provider </a:t>
            </a:r>
            <a:r>
              <a:rPr lang="zh-CN" altLang="en-US" sz="1600">
                <a:solidFill>
                  <a:srgbClr val="334155"/>
                </a:solidFill>
              </a:rPr>
              <a:t>鈫</a:t>
            </a:r>
            <a:r>
              <a:rPr lang="en-US" altLang="zh-CN" sz="1600">
                <a:solidFill>
                  <a:srgbClr val="334155"/>
                </a:solidFill>
              </a:rPr>
              <a:t>?@openai/codex app-server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   OpenAI-compatible / Responses API endpoints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   Third-party gateways, custom context windows</a:t>
            </a:r>
          </a:p>
          <a:p>
            <a:endParaRPr lang="en-US" altLang="zh-CN" sz="1600">
              <a:solidFill>
                <a:srgbClr val="334155"/>
              </a:solidFill>
            </a:endParaRPr>
          </a:p>
          <a:p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?Pi provider </a:t>
            </a:r>
            <a:r>
              <a:rPr lang="zh-CN" altLang="en-US" sz="1600">
                <a:solidFill>
                  <a:srgbClr val="334155"/>
                </a:solidFill>
              </a:rPr>
              <a:t>鈫</a:t>
            </a:r>
            <a:r>
              <a:rPr lang="en-US" altLang="zh-CN" sz="1600">
                <a:solidFill>
                  <a:srgbClr val="334155"/>
                </a:solidFill>
              </a:rPr>
              <a:t>?@earendil-works/pi-coding-agent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   Configured via Settings </a:t>
            </a:r>
            <a:r>
              <a:rPr lang="zh-CN" altLang="en-US" sz="1600">
                <a:solidFill>
                  <a:srgbClr val="334155"/>
                </a:solidFill>
              </a:rPr>
              <a:t>鈫</a:t>
            </a:r>
            <a:r>
              <a:rPr lang="en-US" altLang="zh-CN" sz="1600">
                <a:solidFill>
                  <a:srgbClr val="334155"/>
                </a:solidFill>
              </a:rPr>
              <a:t>?Models</a:t>
            </a:r>
          </a:p>
          <a:p>
            <a:endParaRPr lang="en-US" altLang="zh-CN" sz="1600">
              <a:solidFill>
                <a:srgbClr val="334155"/>
              </a:solidFill>
            </a:endParaRPr>
          </a:p>
          <a:p>
            <a:r>
              <a:rPr lang="en-US" altLang="zh-CN" sz="1600">
                <a:solidFill>
                  <a:srgbClr val="334155"/>
                </a:solidFill>
              </a:rPr>
              <a:t>Each declares capabilities </a:t>
            </a:r>
            <a:r>
              <a:rPr lang="zh-CN" altLang="en-US" sz="1600">
                <a:solidFill>
                  <a:srgbClr val="334155"/>
                </a:solidFill>
              </a:rPr>
              <a:t>鈫</a:t>
            </a:r>
            <a:r>
              <a:rPr lang="en-US" altLang="zh-CN" sz="1600">
                <a:solidFill>
                  <a:srgbClr val="334155"/>
                </a:solidFill>
              </a:rPr>
              <a:t>?UI adapts automatically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(thinking levels, permission modes, built-in models)</a:t>
            </a:r>
            <a:endParaRPr lang="zh-CN" altLang="en-US" sz="160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474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351E54-6FAD-B7B2-0327-960D1261A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>
                <a:solidFill>
                  <a:srgbClr val="0F172A"/>
                </a:solidFill>
              </a:rPr>
              <a:t>Mobile Remote Control</a:t>
            </a:r>
            <a:endParaRPr lang="zh-CN" altLang="en-US" b="1">
              <a:solidFill>
                <a:srgbClr val="0F172A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ED87C1-1064-7E6F-6895-6C0276CE7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470BD5-1052-1B05-9CD3-4079FDD3EE22}"/>
              </a:ext>
            </a:extLst>
          </p:cNvPr>
          <p:cNvSpPr txBox="1"/>
          <p:nvPr/>
        </p:nvSpPr>
        <p:spPr>
          <a:xfrm>
            <a:off x="1016000" y="1905000"/>
            <a:ext cx="10160000" cy="37856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solidFill>
                  <a:srgbClr val="334155"/>
                </a:solidFill>
              </a:rPr>
              <a:t>Full remote control from your phone:</a:t>
            </a:r>
          </a:p>
          <a:p>
            <a:endParaRPr lang="en-US" altLang="zh-CN" sz="1600">
              <a:solidFill>
                <a:srgbClr val="334155"/>
              </a:solidFill>
            </a:endParaRPr>
          </a:p>
          <a:p>
            <a:r>
              <a:rPr lang="en-US" altLang="zh-CN" sz="1600">
                <a:solidFill>
                  <a:srgbClr val="334155"/>
                </a:solidFill>
              </a:rPr>
              <a:t>LAN access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  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?Desktop serves a companion web app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  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?Scan QR code to pair (device-token auth)</a:t>
            </a:r>
          </a:p>
          <a:p>
            <a:endParaRPr lang="en-US" altLang="zh-CN" sz="1600">
              <a:solidFill>
                <a:srgbClr val="334155"/>
              </a:solidFill>
            </a:endParaRPr>
          </a:p>
          <a:p>
            <a:r>
              <a:rPr lang="en-US" altLang="zh-CN" sz="1600">
                <a:solidFill>
                  <a:srgbClr val="334155"/>
                </a:solidFill>
              </a:rPr>
              <a:t>Remote access from anywhere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  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?SSH reverse tunnel through your own VPS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  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?No third-party tunneling service</a:t>
            </a:r>
          </a:p>
          <a:p>
            <a:endParaRPr lang="en-US" altLang="zh-CN" sz="1600">
              <a:solidFill>
                <a:srgbClr val="334155"/>
              </a:solidFill>
            </a:endParaRPr>
          </a:p>
          <a:p>
            <a:r>
              <a:rPr lang="en-US" altLang="zh-CN" sz="1600">
                <a:solidFill>
                  <a:srgbClr val="334155"/>
                </a:solidFill>
              </a:rPr>
              <a:t>Features: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  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?Watch sessions stream live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  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?Send messages, interrupt/rewind turns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  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?Approve tool calls</a:t>
            </a:r>
          </a:p>
          <a:p>
            <a:r>
              <a:rPr lang="en-US" altLang="zh-CN" sz="1600">
                <a:solidFill>
                  <a:srgbClr val="334155"/>
                </a:solidFill>
              </a:rPr>
              <a:t>   </a:t>
            </a:r>
            <a:r>
              <a:rPr lang="zh-CN" altLang="en-US" sz="1600">
                <a:solidFill>
                  <a:srgbClr val="334155"/>
                </a:solidFill>
              </a:rPr>
              <a:t>鈥</a:t>
            </a:r>
            <a:r>
              <a:rPr lang="en-US" altLang="zh-CN" sz="1600">
                <a:solidFill>
                  <a:srgbClr val="334155"/>
                </a:solidFill>
              </a:rPr>
              <a:t>?Browse files &amp; diffs, run git operations</a:t>
            </a:r>
            <a:endParaRPr lang="zh-CN" altLang="en-US" sz="160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75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B3D7E-4517-88AC-18A6-C4B633268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>
                <a:solidFill>
                  <a:srgbClr val="0F172A"/>
                </a:solidFill>
              </a:rPr>
              <a:t>Why MarioCode?</a:t>
            </a:r>
            <a:endParaRPr lang="zh-CN" altLang="en-US" b="1">
              <a:solidFill>
                <a:srgbClr val="0F172A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066ABC-375E-C1D9-6989-3681B97A1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B80B57-635D-3C5F-3C32-B989A51531F6}"/>
              </a:ext>
            </a:extLst>
          </p:cNvPr>
          <p:cNvSpPr txBox="1"/>
          <p:nvPr/>
        </p:nvSpPr>
        <p:spPr>
          <a:xfrm>
            <a:off x="1016000" y="1905000"/>
            <a:ext cx="10160000" cy="40934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000">
                <a:solidFill>
                  <a:srgbClr val="334155"/>
                </a:solidFill>
              </a:rPr>
              <a:t>Unified interface for three agent platforms</a:t>
            </a:r>
          </a:p>
          <a:p>
            <a:endParaRPr lang="en-US" altLang="zh-CN" sz="2000">
              <a:solidFill>
                <a:srgbClr val="334155"/>
              </a:solidFill>
            </a:endParaRPr>
          </a:p>
          <a:p>
            <a:r>
              <a:rPr lang="en-US" altLang="zh-CN" sz="2000">
                <a:solidFill>
                  <a:srgbClr val="334155"/>
                </a:solidFill>
              </a:rPr>
              <a:t>Full desktop IDE experience (not a web wrapper)</a:t>
            </a:r>
          </a:p>
          <a:p>
            <a:endParaRPr lang="en-US" altLang="zh-CN" sz="2000">
              <a:solidFill>
                <a:srgbClr val="334155"/>
              </a:solidFill>
            </a:endParaRPr>
          </a:p>
          <a:p>
            <a:r>
              <a:rPr lang="en-US" altLang="zh-CN" sz="2000">
                <a:solidFill>
                  <a:srgbClr val="334155"/>
                </a:solidFill>
              </a:rPr>
              <a:t>Real control </a:t>
            </a:r>
            <a:r>
              <a:rPr lang="zh-CN" altLang="en-US" sz="2000">
                <a:solidFill>
                  <a:srgbClr val="334155"/>
                </a:solidFill>
              </a:rPr>
              <a:t>鈥</a:t>
            </a:r>
            <a:r>
              <a:rPr lang="en-US" altLang="zh-CN" sz="2000">
                <a:solidFill>
                  <a:srgbClr val="334155"/>
                </a:solidFill>
              </a:rPr>
              <a:t>?approve/deny every tool call, review plans</a:t>
            </a:r>
          </a:p>
          <a:p>
            <a:endParaRPr lang="en-US" altLang="zh-CN" sz="2000">
              <a:solidFill>
                <a:srgbClr val="334155"/>
              </a:solidFill>
            </a:endParaRPr>
          </a:p>
          <a:p>
            <a:r>
              <a:rPr lang="en-US" altLang="zh-CN" sz="2000">
                <a:solidFill>
                  <a:srgbClr val="334155"/>
                </a:solidFill>
              </a:rPr>
              <a:t>Mobile companion </a:t>
            </a:r>
            <a:r>
              <a:rPr lang="zh-CN" altLang="en-US" sz="2000">
                <a:solidFill>
                  <a:srgbClr val="334155"/>
                </a:solidFill>
              </a:rPr>
              <a:t>鈥</a:t>
            </a:r>
            <a:r>
              <a:rPr lang="en-US" altLang="zh-CN" sz="2000">
                <a:solidFill>
                  <a:srgbClr val="334155"/>
                </a:solidFill>
              </a:rPr>
              <a:t>?work from anywhere</a:t>
            </a:r>
          </a:p>
          <a:p>
            <a:endParaRPr lang="en-US" altLang="zh-CN" sz="2000">
              <a:solidFill>
                <a:srgbClr val="334155"/>
              </a:solidFill>
            </a:endParaRPr>
          </a:p>
          <a:p>
            <a:r>
              <a:rPr lang="en-US" altLang="zh-CN" sz="2000">
                <a:solidFill>
                  <a:srgbClr val="334155"/>
                </a:solidFill>
              </a:rPr>
              <a:t>Worktree sessions </a:t>
            </a:r>
            <a:r>
              <a:rPr lang="zh-CN" altLang="en-US" sz="2000">
                <a:solidFill>
                  <a:srgbClr val="334155"/>
                </a:solidFill>
              </a:rPr>
              <a:t>鈥</a:t>
            </a:r>
            <a:r>
              <a:rPr lang="en-US" altLang="zh-CN" sz="2000">
                <a:solidFill>
                  <a:srgbClr val="334155"/>
                </a:solidFill>
              </a:rPr>
              <a:t>?parallel work without conflicts</a:t>
            </a:r>
          </a:p>
          <a:p>
            <a:endParaRPr lang="en-US" altLang="zh-CN" sz="2000">
              <a:solidFill>
                <a:srgbClr val="334155"/>
              </a:solidFill>
            </a:endParaRPr>
          </a:p>
          <a:p>
            <a:r>
              <a:rPr lang="en-US" altLang="zh-CN" sz="2000">
                <a:solidFill>
                  <a:srgbClr val="334155"/>
                </a:solidFill>
              </a:rPr>
              <a:t>Open source, MIT licensed </a:t>
            </a:r>
            <a:r>
              <a:rPr lang="zh-CN" altLang="en-US" sz="2000">
                <a:solidFill>
                  <a:srgbClr val="334155"/>
                </a:solidFill>
              </a:rPr>
              <a:t>鈥</a:t>
            </a:r>
            <a:r>
              <a:rPr lang="en-US" altLang="zh-CN" sz="2000">
                <a:solidFill>
                  <a:srgbClr val="334155"/>
                </a:solidFill>
              </a:rPr>
              <a:t>?free forever</a:t>
            </a:r>
          </a:p>
          <a:p>
            <a:endParaRPr lang="en-US" altLang="zh-CN" sz="2000">
              <a:solidFill>
                <a:srgbClr val="334155"/>
              </a:solidFill>
            </a:endParaRPr>
          </a:p>
          <a:p>
            <a:r>
              <a:rPr lang="en-US" altLang="zh-CN" sz="2000">
                <a:solidFill>
                  <a:srgbClr val="334155"/>
                </a:solidFill>
              </a:rPr>
              <a:t>No tracking, no account required</a:t>
            </a:r>
            <a:endParaRPr lang="zh-CN" altLang="en-US" sz="200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041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974F9-D3D1-BCF4-A3A3-60E74092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>
                <a:solidFill>
                  <a:srgbClr val="0F172A"/>
                </a:solidFill>
              </a:rPr>
              <a:t>Get Started</a:t>
            </a:r>
            <a:endParaRPr lang="zh-CN" altLang="en-US" b="1">
              <a:solidFill>
                <a:srgbClr val="0F172A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D6AB09-DAB8-F259-642E-B3259E304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E29B1D-A65F-566B-443E-753475CB9AD5}"/>
              </a:ext>
            </a:extLst>
          </p:cNvPr>
          <p:cNvSpPr txBox="1"/>
          <p:nvPr/>
        </p:nvSpPr>
        <p:spPr>
          <a:xfrm>
            <a:off x="1016000" y="1905000"/>
            <a:ext cx="10160000" cy="39703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>
                <a:solidFill>
                  <a:srgbClr val="334155"/>
                </a:solidFill>
              </a:rPr>
              <a:t>Download pre-built installers:</a:t>
            </a:r>
          </a:p>
          <a:p>
            <a:r>
              <a:rPr lang="en-US" altLang="zh-CN">
                <a:solidFill>
                  <a:srgbClr val="334155"/>
                </a:solidFill>
              </a:rPr>
              <a:t>    GitHub Releases </a:t>
            </a:r>
            <a:r>
              <a:rPr lang="zh-CN" altLang="en-US">
                <a:solidFill>
                  <a:srgbClr val="334155"/>
                </a:solidFill>
              </a:rPr>
              <a:t>鈥</a:t>
            </a:r>
            <a:r>
              <a:rPr lang="en-US" altLang="zh-CN">
                <a:solidFill>
                  <a:srgbClr val="334155"/>
                </a:solidFill>
              </a:rPr>
              <a:t>?macOS (dmg), Windows (exe)</a:t>
            </a:r>
          </a:p>
          <a:p>
            <a:r>
              <a:rPr lang="en-US" altLang="zh-CN">
                <a:solidFill>
                  <a:srgbClr val="334155"/>
                </a:solidFill>
              </a:rPr>
              <a:t>    github.com/maxiaopang123/MarioCode/releases</a:t>
            </a:r>
          </a:p>
          <a:p>
            <a:endParaRPr lang="en-US" altLang="zh-CN">
              <a:solidFill>
                <a:srgbClr val="334155"/>
              </a:solidFill>
            </a:endParaRPr>
          </a:p>
          <a:p>
            <a:r>
              <a:rPr lang="en-US" altLang="zh-CN">
                <a:solidFill>
                  <a:srgbClr val="334155"/>
                </a:solidFill>
              </a:rPr>
              <a:t>Build from source:</a:t>
            </a:r>
          </a:p>
          <a:p>
            <a:r>
              <a:rPr lang="en-US" altLang="zh-CN">
                <a:solidFill>
                  <a:srgbClr val="334155"/>
                </a:solidFill>
              </a:rPr>
              <a:t>    pnpm install</a:t>
            </a:r>
          </a:p>
          <a:p>
            <a:r>
              <a:rPr lang="en-US" altLang="zh-CN">
                <a:solidFill>
                  <a:srgbClr val="334155"/>
                </a:solidFill>
              </a:rPr>
              <a:t>    pnpm dev</a:t>
            </a:r>
          </a:p>
          <a:p>
            <a:endParaRPr lang="en-US" altLang="zh-CN">
              <a:solidFill>
                <a:srgbClr val="334155"/>
              </a:solidFill>
            </a:endParaRPr>
          </a:p>
          <a:p>
            <a:r>
              <a:rPr lang="en-US" altLang="zh-CN">
                <a:solidFill>
                  <a:srgbClr val="334155"/>
                </a:solidFill>
              </a:rPr>
              <a:t>Requirements:</a:t>
            </a:r>
          </a:p>
          <a:p>
            <a:r>
              <a:rPr lang="en-US" altLang="zh-CN">
                <a:solidFill>
                  <a:srgbClr val="334155"/>
                </a:solidFill>
              </a:rPr>
              <a:t>    </a:t>
            </a:r>
            <a:r>
              <a:rPr lang="zh-CN" altLang="en-US">
                <a:solidFill>
                  <a:srgbClr val="334155"/>
                </a:solidFill>
              </a:rPr>
              <a:t>鈥</a:t>
            </a:r>
            <a:r>
              <a:rPr lang="en-US" altLang="zh-CN">
                <a:solidFill>
                  <a:srgbClr val="334155"/>
                </a:solidFill>
              </a:rPr>
              <a:t>?Node.js &gt;= 22.13, pnpm &gt;= 9</a:t>
            </a:r>
          </a:p>
          <a:p>
            <a:r>
              <a:rPr lang="en-US" altLang="zh-CN">
                <a:solidFill>
                  <a:srgbClr val="334155"/>
                </a:solidFill>
              </a:rPr>
              <a:t>    </a:t>
            </a:r>
            <a:r>
              <a:rPr lang="zh-CN" altLang="en-US">
                <a:solidFill>
                  <a:srgbClr val="334155"/>
                </a:solidFill>
              </a:rPr>
              <a:t>鈥</a:t>
            </a:r>
            <a:r>
              <a:rPr lang="en-US" altLang="zh-CN">
                <a:solidFill>
                  <a:srgbClr val="334155"/>
                </a:solidFill>
              </a:rPr>
              <a:t>?Claude: ANTHROPIC_API_KEY</a:t>
            </a:r>
          </a:p>
          <a:p>
            <a:r>
              <a:rPr lang="en-US" altLang="zh-CN">
                <a:solidFill>
                  <a:srgbClr val="334155"/>
                </a:solidFill>
              </a:rPr>
              <a:t>    </a:t>
            </a:r>
            <a:r>
              <a:rPr lang="zh-CN" altLang="en-US">
                <a:solidFill>
                  <a:srgbClr val="334155"/>
                </a:solidFill>
              </a:rPr>
              <a:t>鈥</a:t>
            </a:r>
            <a:r>
              <a:rPr lang="en-US" altLang="zh-CN">
                <a:solidFill>
                  <a:srgbClr val="334155"/>
                </a:solidFill>
              </a:rPr>
              <a:t>?Codex/Pi: configure in Settings </a:t>
            </a:r>
            <a:r>
              <a:rPr lang="zh-CN" altLang="en-US">
                <a:solidFill>
                  <a:srgbClr val="334155"/>
                </a:solidFill>
              </a:rPr>
              <a:t>鈫</a:t>
            </a:r>
            <a:r>
              <a:rPr lang="en-US" altLang="zh-CN">
                <a:solidFill>
                  <a:srgbClr val="334155"/>
                </a:solidFill>
              </a:rPr>
              <a:t>?Models</a:t>
            </a:r>
          </a:p>
          <a:p>
            <a:endParaRPr lang="en-US" altLang="zh-CN">
              <a:solidFill>
                <a:srgbClr val="334155"/>
              </a:solidFill>
            </a:endParaRPr>
          </a:p>
          <a:p>
            <a:r>
              <a:rPr lang="en-US" altLang="zh-CN">
                <a:solidFill>
                  <a:srgbClr val="334155"/>
                </a:solidFill>
              </a:rPr>
              <a:t>Star on GitHub </a:t>
            </a:r>
            <a:r>
              <a:rPr lang="zh-CN" altLang="en-US">
                <a:solidFill>
                  <a:srgbClr val="334155"/>
                </a:solidFill>
              </a:rPr>
              <a:t>鈥</a:t>
            </a:r>
            <a:r>
              <a:rPr lang="en-US" altLang="zh-CN">
                <a:solidFill>
                  <a:srgbClr val="334155"/>
                </a:solidFill>
              </a:rPr>
              <a:t>?share with others!</a:t>
            </a:r>
            <a:endParaRPr lang="zh-CN" altLang="en-US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713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</Words>
  <Application>Microsoft Office PowerPoint</Application>
  <PresentationFormat>自定义</PresentationFormat>
  <Paragraphs>110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MarioCode</vt:lpstr>
      <vt:lpstr>What is MarioCode?</vt:lpstr>
      <vt:lpstr>Key Highlights</vt:lpstr>
      <vt:lpstr>Tech Stack</vt:lpstr>
      <vt:lpstr>Architecture</vt:lpstr>
      <vt:lpstr>Multi-Provider Design</vt:lpstr>
      <vt:lpstr>Mobile Remote Control</vt:lpstr>
      <vt:lpstr>Why MarioCode?</vt:lpstr>
      <vt:lpstr>Get Started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MAAA RIO</dc:creator>
  <cp:lastModifiedBy>MAAA RIO</cp:lastModifiedBy>
  <cp:revision>1</cp:revision>
  <dcterms:created xsi:type="dcterms:W3CDTF">2026-10-14T04:53:58Z</dcterms:created>
  <dcterms:modified xsi:type="dcterms:W3CDTF">2026-10-14T04:53:58Z</dcterms:modified>
</cp:coreProperties>
</file>