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30" y="7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20DD890-CE6D-7B05-F9C3-2C7CB0C81D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24BA501-4A65-2F89-1B8B-E2A9D434F8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DFAD0FC-B957-A196-B153-813F7A6926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5F4752-D751-4721-9AC6-71671C6D31B1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A5E8E9C-3689-5EF3-687E-D19709560D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C940E8D-1FC0-E417-D488-9A8E99725F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C666A-AC0D-4E1A-9DD9-0C304CD3F14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66326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932C5A6-8E7F-4770-C754-E624FA6460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F7CD05A-D9C7-B977-4751-88B091FB76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E1D3370-EF33-4987-E070-94B45AB429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5F4752-D751-4721-9AC6-71671C6D31B1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9D5AF29-F48E-B43D-4261-64E1FC515C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1ED1837-B36D-CF1C-41FB-F998668807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C666A-AC0D-4E1A-9DD9-0C304CD3F14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31041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FCCB32-0ACF-FA1D-EF13-18FE2D3937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7249652-BDC1-CAE2-72D9-6EE403A122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236CD42-9588-3745-02AC-ABE76454FF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5F4752-D751-4721-9AC6-71671C6D31B1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77C4171-DCC2-D46C-2AE2-0685530587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13E5454-B07D-AEC5-4E6D-D923CC87FC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C666A-AC0D-4E1A-9DD9-0C304CD3F14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01928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4CCAA0E-9DE2-49C4-F485-7F400BF2EF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E9FF368-9237-CBE8-A84C-164E7B1FD7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C75ECF4-BEC1-A5EF-C9AB-4AF1496177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3A80DBF-D7C0-CBC2-7D32-B13FB0EB20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5F4752-D751-4721-9AC6-71671C6D31B1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ACE3A66-F4C2-2134-D907-5BD476E793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7C0C3B8-4B73-F3AD-DB53-62380D02C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C666A-AC0D-4E1A-9DD9-0C304CD3F14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02252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EFF23B4-C521-7CD9-A060-F53AEDAE44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1CD7E22-95E8-3E84-9C1A-69BC1F247A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3D6B6B2-6A22-D7FC-A48D-2B75CDFF2D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8AB5244C-4C74-5D86-48FB-3F32404786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7931F8DA-E623-BF8C-09D5-DC23C440DA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33DAC525-288A-FD51-5492-CC3A423DC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5F4752-D751-4721-9AC6-71671C6D31B1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942819F-D9D1-469A-91B7-C3F85841EA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EA42952-75CD-9ED2-481D-C34D96BB5E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C666A-AC0D-4E1A-9DD9-0C304CD3F14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30535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C4BC11-7693-7302-FD2F-1506A89637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EEFDA5E-A921-0E3A-C6C2-95A01E2C41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5F4752-D751-4721-9AC6-71671C6D31B1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D969F2C-D379-50FC-56FF-5D96991AEF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A23DC07-867E-17FA-493E-5789068C2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C666A-AC0D-4E1A-9DD9-0C304CD3F14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71072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AA2701F-7753-91B8-4E7E-6EFF92D5C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5F4752-D751-4721-9AC6-71671C6D31B1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BADB4CF-5D0B-3BCB-5589-E76B83D14C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BC260A3-E226-125D-C788-3AE97E800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C666A-AC0D-4E1A-9DD9-0C304CD3F14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95488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4014A1-08D2-9A8C-1F89-4A5C677F5A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2BA5277-22DF-77C8-37D9-7D8468BFEF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0925F22-8A4B-B2E4-CB4F-11075571C6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42B69C2-80C8-ABEE-5308-976E35CA53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5F4752-D751-4721-9AC6-71671C6D31B1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245B8C3-1FFE-C2EF-893D-7F2018108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8398913-4F35-B4AB-AA28-CA56EA0562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C666A-AC0D-4E1A-9DD9-0C304CD3F14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17109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1A53B4C-D633-AC1D-9DCD-D6E3AD69E5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83E2B57-6748-5AB6-3822-5DD3563D6586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1814387-18F8-928E-BBCE-E38A78C3EB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3CB8A4C-E022-E920-5000-8D87B4DA08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5F4752-D751-4721-9AC6-71671C6D31B1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DFCD800-CE9B-28B8-AECE-6A4101414A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C3D879D-0805-8DCA-32EE-433825347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C666A-AC0D-4E1A-9DD9-0C304CD3F14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45485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23F1314-4EF3-F206-0C92-F0FCC6E94D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6894FB5-99A2-A7A8-E3E5-299F0D7713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C9675AA-0EF1-45D8-53FA-8B8877EDB4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5F4752-D751-4721-9AC6-71671C6D31B1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9D31649-BC40-E477-7AC7-E42A98753E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DC26A67-CF40-9BA7-40FF-C1ED9635D9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C666A-AC0D-4E1A-9DD9-0C304CD3F14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18914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0CE4A9D-7A76-D663-5D8F-005A00BB85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86333F6-360A-6F85-5CF3-0EAE7B7861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B1F4633-046B-398D-E169-E8B62D83C9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5F4752-D751-4721-9AC6-71671C6D31B1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CDACB12-867F-58A9-11D4-F13B00F68F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7F7B55F-966A-5347-4A85-B8D1F6CC15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C666A-AC0D-4E1A-9DD9-0C304CD3F14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13986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186FE1B-F1C5-9D5D-8428-4D00FBA229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77AEA77-2187-40FD-58AC-B5BCB47ED3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537FE59-CB11-3654-6DD7-1B5555E9857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C5F4752-D751-4721-9AC6-71671C6D31B1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9FE990C-5E7B-B3B1-5F61-199503A66D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8677C7-5724-0976-4AF9-01C9547341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4C666A-AC0D-4E1A-9DD9-0C304CD3F14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27433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838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>
            <a:extLst>
              <a:ext uri="{FF2B5EF4-FFF2-40B4-BE49-F238E27FC236}">
                <a16:creationId xmlns:a16="http://schemas.microsoft.com/office/drawing/2014/main" id="{E6A49ED6-D310-862C-E0FE-AA82BF2672DF}"/>
              </a:ext>
            </a:extLst>
          </p:cNvPr>
          <p:cNvSpPr/>
          <p:nvPr/>
        </p:nvSpPr>
        <p:spPr>
          <a:xfrm>
            <a:off x="7112000" y="-1905000"/>
            <a:ext cx="6604000" cy="6604000"/>
          </a:xfrm>
          <a:prstGeom prst="ellipse">
            <a:avLst/>
          </a:prstGeom>
          <a:solidFill>
            <a:srgbClr val="31443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7E6B8C2A-3927-D714-F67F-B86B61C12EA3}"/>
              </a:ext>
            </a:extLst>
          </p:cNvPr>
          <p:cNvSpPr/>
          <p:nvPr/>
        </p:nvSpPr>
        <p:spPr>
          <a:xfrm>
            <a:off x="9271000" y="4191000"/>
            <a:ext cx="4191000" cy="4191000"/>
          </a:xfrm>
          <a:prstGeom prst="ellipse">
            <a:avLst/>
          </a:prstGeom>
          <a:solidFill>
            <a:srgbClr val="2C3E3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CA474E6-7A40-BD0F-C1F4-F0D706AFEB1E}"/>
              </a:ext>
            </a:extLst>
          </p:cNvPr>
          <p:cNvSpPr txBox="1"/>
          <p:nvPr/>
        </p:nvSpPr>
        <p:spPr>
          <a:xfrm>
            <a:off x="762000" y="990600"/>
            <a:ext cx="63500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n-US" altLang="zh-CN" sz="1200" b="1">
                <a:solidFill>
                  <a:srgbClr val="8BC0A3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FREE · OPEN SOURCE · DESKTOP</a:t>
            </a:r>
            <a:endParaRPr lang="zh-CN" altLang="en-US" sz="1200" b="1">
              <a:solidFill>
                <a:srgbClr val="8BC0A3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6C689CE-2B4D-8D99-9335-A2143191B0B4}"/>
              </a:ext>
            </a:extLst>
          </p:cNvPr>
          <p:cNvSpPr txBox="1"/>
          <p:nvPr/>
        </p:nvSpPr>
        <p:spPr>
          <a:xfrm>
            <a:off x="762000" y="2133600"/>
            <a:ext cx="8890000" cy="1270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n-US" altLang="zh-CN" sz="7600" b="1">
                <a:solidFill>
                  <a:srgbClr val="FFFFFF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MarioCode</a:t>
            </a:r>
            <a:endParaRPr lang="zh-CN" altLang="en-US" sz="7600" b="1">
              <a:solidFill>
                <a:srgbClr val="FFFFFF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67F3F96-0A4B-7289-5B38-2CF977A0FCEF}"/>
              </a:ext>
            </a:extLst>
          </p:cNvPr>
          <p:cNvSpPr txBox="1"/>
          <p:nvPr/>
        </p:nvSpPr>
        <p:spPr>
          <a:xfrm>
            <a:off x="762000" y="3581400"/>
            <a:ext cx="9652000" cy="508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zh-CN" altLang="en-US" sz="2400">
                <a:solidFill>
                  <a:srgbClr val="E2F0E8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把 </a:t>
            </a:r>
            <a:r>
              <a:rPr lang="en-US" altLang="zh-CN" sz="2400">
                <a:solidFill>
                  <a:srgbClr val="E2F0E8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Claude Code</a:t>
            </a:r>
            <a:r>
              <a:rPr lang="zh-CN" altLang="en-US" sz="2400">
                <a:solidFill>
                  <a:srgbClr val="E2F0E8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、</a:t>
            </a:r>
            <a:r>
              <a:rPr lang="en-US" altLang="zh-CN" sz="2400">
                <a:solidFill>
                  <a:srgbClr val="E2F0E8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Codex </a:t>
            </a:r>
            <a:r>
              <a:rPr lang="zh-CN" altLang="en-US" sz="2400">
                <a:solidFill>
                  <a:srgbClr val="E2F0E8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与 </a:t>
            </a:r>
            <a:r>
              <a:rPr lang="en-US" altLang="zh-CN" sz="2400">
                <a:solidFill>
                  <a:srgbClr val="E2F0E8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Pi </a:t>
            </a:r>
            <a:r>
              <a:rPr lang="zh-CN" altLang="en-US" sz="2400">
                <a:solidFill>
                  <a:srgbClr val="E2F0E8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装进同一个桌面应用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863ED8C-BBCA-895F-4B8D-86E1C3C6636D}"/>
              </a:ext>
            </a:extLst>
          </p:cNvPr>
          <p:cNvSpPr txBox="1"/>
          <p:nvPr/>
        </p:nvSpPr>
        <p:spPr>
          <a:xfrm>
            <a:off x="762000" y="4241800"/>
            <a:ext cx="96520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zh-CN" altLang="en-US" sz="1500">
                <a:solidFill>
                  <a:srgbClr val="B0C4BA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免费开源的编程 </a:t>
            </a:r>
            <a:r>
              <a:rPr lang="en-US" altLang="zh-CN" sz="1500">
                <a:solidFill>
                  <a:srgbClr val="B0C4BA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Agent </a:t>
            </a:r>
            <a:r>
              <a:rPr lang="zh-CN" altLang="en-US" sz="1500">
                <a:solidFill>
                  <a:srgbClr val="B0C4BA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桌面客户端 </a:t>
            </a:r>
            <a:r>
              <a:rPr lang="en-US" altLang="zh-CN" sz="1500">
                <a:solidFill>
                  <a:srgbClr val="B0C4BA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· MIT </a:t>
            </a:r>
            <a:r>
              <a:rPr lang="zh-CN" altLang="en-US" sz="1500">
                <a:solidFill>
                  <a:srgbClr val="B0C4BA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协议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BE90A214-78A6-5CA9-F16C-95DBD9776937}"/>
              </a:ext>
            </a:extLst>
          </p:cNvPr>
          <p:cNvSpPr/>
          <p:nvPr/>
        </p:nvSpPr>
        <p:spPr>
          <a:xfrm>
            <a:off x="762000" y="5588000"/>
            <a:ext cx="1168400" cy="381000"/>
          </a:xfrm>
          <a:prstGeom prst="roundRect">
            <a:avLst>
              <a:gd name="adj" fmla="val 50000"/>
            </a:avLst>
          </a:prstGeom>
          <a:noFill/>
          <a:ln w="9525" cap="flat" cmpd="sng" algn="ctr">
            <a:solidFill>
              <a:srgbClr val="8BC0A3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12700" rIns="50800" bIns="12700" rtlCol="0" anchor="ctr"/>
          <a:lstStyle/>
          <a:p>
            <a:pPr algn="ctr"/>
            <a:r>
              <a:rPr lang="en-US" altLang="zh-CN" sz="1200" b="1">
                <a:solidFill>
                  <a:srgbClr val="8BC0A3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v0.2.45</a:t>
            </a:r>
            <a:endParaRPr lang="zh-CN" altLang="en-US" sz="1200" b="1">
              <a:solidFill>
                <a:srgbClr val="8BC0A3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91C608E5-3E00-C9DB-4B3D-678A0624C09A}"/>
              </a:ext>
            </a:extLst>
          </p:cNvPr>
          <p:cNvSpPr/>
          <p:nvPr/>
        </p:nvSpPr>
        <p:spPr>
          <a:xfrm>
            <a:off x="2082800" y="5588000"/>
            <a:ext cx="1905000" cy="381000"/>
          </a:xfrm>
          <a:prstGeom prst="roundRect">
            <a:avLst>
              <a:gd name="adj" fmla="val 50000"/>
            </a:avLst>
          </a:prstGeom>
          <a:noFill/>
          <a:ln w="9525" cap="flat" cmpd="sng" algn="ctr">
            <a:solidFill>
              <a:srgbClr val="8BC0A3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12700" rIns="50800" bIns="12700" rtlCol="0" anchor="ctr"/>
          <a:lstStyle/>
          <a:p>
            <a:pPr algn="ctr"/>
            <a:r>
              <a:rPr lang="en-US" altLang="zh-CN" sz="1200" b="1">
                <a:solidFill>
                  <a:srgbClr val="8BC0A3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Windows · macOS</a:t>
            </a:r>
            <a:endParaRPr lang="zh-CN" altLang="en-US" sz="1200" b="1">
              <a:solidFill>
                <a:srgbClr val="8BC0A3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4B903DBB-21F9-87A0-BADD-2349C3776547}"/>
              </a:ext>
            </a:extLst>
          </p:cNvPr>
          <p:cNvSpPr/>
          <p:nvPr/>
        </p:nvSpPr>
        <p:spPr>
          <a:xfrm>
            <a:off x="4140200" y="5588000"/>
            <a:ext cx="2997200" cy="381000"/>
          </a:xfrm>
          <a:prstGeom prst="roundRect">
            <a:avLst>
              <a:gd name="adj" fmla="val 50000"/>
            </a:avLst>
          </a:prstGeom>
          <a:noFill/>
          <a:ln w="9525" cap="flat" cmpd="sng" algn="ctr">
            <a:solidFill>
              <a:srgbClr val="8BC0A3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12700" rIns="50800" bIns="12700" rtlCol="0" anchor="ctr"/>
          <a:lstStyle/>
          <a:p>
            <a:pPr algn="ctr"/>
            <a:r>
              <a:rPr lang="en-US" altLang="zh-CN" sz="1200" b="1">
                <a:solidFill>
                  <a:srgbClr val="8BC0A3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Electron · React · TypeScript</a:t>
            </a:r>
            <a:endParaRPr lang="zh-CN" altLang="en-US" sz="1200" b="1">
              <a:solidFill>
                <a:srgbClr val="8BC0A3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713254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B4492DE5-1815-9ED1-3923-5C13919C73FF}"/>
              </a:ext>
            </a:extLst>
          </p:cNvPr>
          <p:cNvSpPr txBox="1"/>
          <p:nvPr/>
        </p:nvSpPr>
        <p:spPr>
          <a:xfrm>
            <a:off x="762000" y="482600"/>
            <a:ext cx="7620000" cy="203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n-US" altLang="zh-CN" sz="1100" b="1">
                <a:solidFill>
                  <a:srgbClr val="2C7053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01 · </a:t>
            </a:r>
            <a:r>
              <a:rPr lang="zh-CN" altLang="en-US" sz="1100" b="1">
                <a:solidFill>
                  <a:srgbClr val="2C7053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定位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5E1B9F7-A20C-5FE3-21A1-91F0CBBF4D2B}"/>
              </a:ext>
            </a:extLst>
          </p:cNvPr>
          <p:cNvSpPr txBox="1"/>
          <p:nvPr/>
        </p:nvSpPr>
        <p:spPr>
          <a:xfrm>
            <a:off x="762000" y="736600"/>
            <a:ext cx="10668000" cy="558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zh-CN" altLang="en-US" sz="3000" b="1">
                <a:solidFill>
                  <a:srgbClr val="1A1A19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不重造 </a:t>
            </a:r>
            <a:r>
              <a:rPr lang="en-US" altLang="zh-CN" sz="3000" b="1">
                <a:solidFill>
                  <a:srgbClr val="1A1A19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Agent</a:t>
            </a:r>
            <a:r>
              <a:rPr lang="zh-CN" altLang="en-US" sz="3000" b="1">
                <a:solidFill>
                  <a:srgbClr val="1A1A19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，把 </a:t>
            </a:r>
            <a:r>
              <a:rPr lang="en-US" altLang="zh-CN" sz="3000" b="1">
                <a:solidFill>
                  <a:srgbClr val="1A1A19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Agent </a:t>
            </a:r>
            <a:r>
              <a:rPr lang="zh-CN" altLang="en-US" sz="3000" b="1">
                <a:solidFill>
                  <a:srgbClr val="1A1A19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的操作界面做好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2159B41-7B36-59F0-1F6F-A2A11056EF9F}"/>
              </a:ext>
            </a:extLst>
          </p:cNvPr>
          <p:cNvSpPr txBox="1"/>
          <p:nvPr/>
        </p:nvSpPr>
        <p:spPr>
          <a:xfrm>
            <a:off x="762000" y="1320800"/>
            <a:ext cx="106680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zh-CN" altLang="en-US" sz="1400">
                <a:solidFill>
                  <a:srgbClr val="52524E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基于官方 </a:t>
            </a:r>
            <a:r>
              <a:rPr lang="en-US" altLang="zh-CN" sz="1400">
                <a:solidFill>
                  <a:srgbClr val="52524E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SDK </a:t>
            </a:r>
            <a:r>
              <a:rPr lang="zh-CN" altLang="en-US" sz="1400">
                <a:solidFill>
                  <a:srgbClr val="52524E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驱动 </a:t>
            </a:r>
            <a:r>
              <a:rPr lang="en-US" altLang="zh-CN" sz="1400">
                <a:solidFill>
                  <a:srgbClr val="52524E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Agent</a:t>
            </a:r>
            <a:r>
              <a:rPr lang="zh-CN" altLang="en-US" sz="1400">
                <a:solidFill>
                  <a:srgbClr val="52524E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；会话、审批、编辑器、浏览器等交互层由 </a:t>
            </a:r>
            <a:r>
              <a:rPr lang="en-US" altLang="zh-CN" sz="1400">
                <a:solidFill>
                  <a:srgbClr val="52524E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MarioCode </a:t>
            </a:r>
            <a:r>
              <a:rPr lang="zh-CN" altLang="en-US" sz="1400">
                <a:solidFill>
                  <a:srgbClr val="52524E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负责。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15ADB0FA-1398-B37B-C676-0FF19C3B6452}"/>
              </a:ext>
            </a:extLst>
          </p:cNvPr>
          <p:cNvSpPr/>
          <p:nvPr/>
        </p:nvSpPr>
        <p:spPr>
          <a:xfrm>
            <a:off x="762000" y="1930400"/>
            <a:ext cx="3403600" cy="2946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4E4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AFF37B63-05BF-AEF3-3E72-7FED21F71A47}"/>
              </a:ext>
            </a:extLst>
          </p:cNvPr>
          <p:cNvSpPr/>
          <p:nvPr/>
        </p:nvSpPr>
        <p:spPr>
          <a:xfrm>
            <a:off x="1041400" y="2209800"/>
            <a:ext cx="431800" cy="431800"/>
          </a:xfrm>
          <a:prstGeom prst="roundRect">
            <a:avLst>
              <a:gd name="adj" fmla="val 30000"/>
            </a:avLst>
          </a:prstGeom>
          <a:solidFill>
            <a:srgbClr val="E2F0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12700" rIns="50800" bIns="12700" rtlCol="0" anchor="ctr"/>
          <a:lstStyle/>
          <a:p>
            <a:pPr algn="ctr"/>
            <a:r>
              <a:rPr lang="en-US" altLang="zh-CN" sz="1500" b="1">
                <a:solidFill>
                  <a:srgbClr val="2C7053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1</a:t>
            </a:r>
            <a:endParaRPr lang="zh-CN" altLang="en-US" sz="1500" b="1">
              <a:solidFill>
                <a:srgbClr val="2C7053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ABAE17D-ED09-CE1C-CDE5-A2899EDC1753}"/>
              </a:ext>
            </a:extLst>
          </p:cNvPr>
          <p:cNvSpPr txBox="1"/>
          <p:nvPr/>
        </p:nvSpPr>
        <p:spPr>
          <a:xfrm>
            <a:off x="1041400" y="2870200"/>
            <a:ext cx="2844800" cy="330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zh-CN" altLang="en-US" b="1">
                <a:solidFill>
                  <a:srgbClr val="1A1A19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官方 </a:t>
            </a:r>
            <a:r>
              <a:rPr lang="en-US" altLang="zh-CN" b="1">
                <a:solidFill>
                  <a:srgbClr val="1A1A19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SDK </a:t>
            </a:r>
            <a:r>
              <a:rPr lang="zh-CN" altLang="en-US" b="1">
                <a:solidFill>
                  <a:srgbClr val="1A1A19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驱动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34E0F69-F339-8EB2-324B-80432637A8F2}"/>
              </a:ext>
            </a:extLst>
          </p:cNvPr>
          <p:cNvSpPr txBox="1"/>
          <p:nvPr/>
        </p:nvSpPr>
        <p:spPr>
          <a:xfrm>
            <a:off x="1041400" y="3327400"/>
            <a:ext cx="2844800" cy="1397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n-US" altLang="zh-CN" sz="1300">
                <a:solidFill>
                  <a:srgbClr val="52524E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Claude Agent SDK</a:t>
            </a:r>
            <a:r>
              <a:rPr lang="zh-CN" altLang="en-US" sz="1300">
                <a:solidFill>
                  <a:srgbClr val="52524E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、</a:t>
            </a:r>
            <a:r>
              <a:rPr lang="en-US" altLang="zh-CN" sz="1300">
                <a:solidFill>
                  <a:srgbClr val="52524E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Codex app-server</a:t>
            </a:r>
            <a:r>
              <a:rPr lang="zh-CN" altLang="en-US" sz="1300">
                <a:solidFill>
                  <a:srgbClr val="52524E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、</a:t>
            </a:r>
            <a:r>
              <a:rPr lang="en-US" altLang="zh-CN" sz="1300">
                <a:solidFill>
                  <a:srgbClr val="52524E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Pi Coding Agent</a:t>
            </a:r>
            <a:r>
              <a:rPr lang="zh-CN" altLang="en-US" sz="1300">
                <a:solidFill>
                  <a:srgbClr val="52524E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。不改写 </a:t>
            </a:r>
            <a:r>
              <a:rPr lang="en-US" altLang="zh-CN" sz="1300">
                <a:solidFill>
                  <a:srgbClr val="52524E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Agent </a:t>
            </a:r>
            <a:r>
              <a:rPr lang="zh-CN" altLang="en-US" sz="1300">
                <a:solidFill>
                  <a:srgbClr val="52524E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的推理与工具循环，只做界面与集成。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AE729BAD-2B08-DD32-D01A-803E8E7AFC30}"/>
              </a:ext>
            </a:extLst>
          </p:cNvPr>
          <p:cNvSpPr/>
          <p:nvPr/>
        </p:nvSpPr>
        <p:spPr>
          <a:xfrm>
            <a:off x="4394200" y="1930400"/>
            <a:ext cx="3403600" cy="2946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4E4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BBEAC0C9-60B7-34EE-E4A5-4650D494CC76}"/>
              </a:ext>
            </a:extLst>
          </p:cNvPr>
          <p:cNvSpPr/>
          <p:nvPr/>
        </p:nvSpPr>
        <p:spPr>
          <a:xfrm>
            <a:off x="4673600" y="2209800"/>
            <a:ext cx="431800" cy="431800"/>
          </a:xfrm>
          <a:prstGeom prst="roundRect">
            <a:avLst>
              <a:gd name="adj" fmla="val 30000"/>
            </a:avLst>
          </a:prstGeom>
          <a:solidFill>
            <a:srgbClr val="E2F0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12700" rIns="50800" bIns="12700" rtlCol="0" anchor="ctr"/>
          <a:lstStyle/>
          <a:p>
            <a:pPr algn="ctr"/>
            <a:r>
              <a:rPr lang="en-US" altLang="zh-CN" sz="1500" b="1">
                <a:solidFill>
                  <a:srgbClr val="2C7053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2</a:t>
            </a:r>
            <a:endParaRPr lang="zh-CN" altLang="en-US" sz="1500" b="1">
              <a:solidFill>
                <a:srgbClr val="2C7053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FCA40C0-B707-D91E-BA60-2E17B8384215}"/>
              </a:ext>
            </a:extLst>
          </p:cNvPr>
          <p:cNvSpPr txBox="1"/>
          <p:nvPr/>
        </p:nvSpPr>
        <p:spPr>
          <a:xfrm>
            <a:off x="4673600" y="2870200"/>
            <a:ext cx="2844800" cy="330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zh-CN" altLang="en-US" b="1">
                <a:solidFill>
                  <a:srgbClr val="1A1A19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完整的交互界面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447E8A30-3BF4-C2F1-B253-1C3EFE057632}"/>
              </a:ext>
            </a:extLst>
          </p:cNvPr>
          <p:cNvSpPr txBox="1"/>
          <p:nvPr/>
        </p:nvSpPr>
        <p:spPr>
          <a:xfrm>
            <a:off x="4673600" y="3327400"/>
            <a:ext cx="2844800" cy="1397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zh-CN" altLang="en-US" sz="1300">
                <a:solidFill>
                  <a:srgbClr val="52524E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实时流式输出、工具审批、计划模式，加上文件树、</a:t>
            </a:r>
            <a:r>
              <a:rPr lang="en-US" altLang="zh-CN" sz="1300">
                <a:solidFill>
                  <a:srgbClr val="52524E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Monaco </a:t>
            </a:r>
            <a:r>
              <a:rPr lang="zh-CN" altLang="en-US" sz="1300">
                <a:solidFill>
                  <a:srgbClr val="52524E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编辑器、</a:t>
            </a:r>
            <a:r>
              <a:rPr lang="en-US" altLang="zh-CN" sz="1300">
                <a:solidFill>
                  <a:srgbClr val="52524E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Git</a:t>
            </a:r>
            <a:r>
              <a:rPr lang="zh-CN" altLang="en-US" sz="1300">
                <a:solidFill>
                  <a:srgbClr val="52524E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、终端和内置浏览器。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9E2057B9-C430-B4F4-88AE-8CD89E017DAF}"/>
              </a:ext>
            </a:extLst>
          </p:cNvPr>
          <p:cNvSpPr/>
          <p:nvPr/>
        </p:nvSpPr>
        <p:spPr>
          <a:xfrm>
            <a:off x="8026400" y="1930400"/>
            <a:ext cx="3403600" cy="2946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4E4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ECEFEB2D-3938-D135-943B-860EA46DA88A}"/>
              </a:ext>
            </a:extLst>
          </p:cNvPr>
          <p:cNvSpPr/>
          <p:nvPr/>
        </p:nvSpPr>
        <p:spPr>
          <a:xfrm>
            <a:off x="8305800" y="2209800"/>
            <a:ext cx="431800" cy="431800"/>
          </a:xfrm>
          <a:prstGeom prst="roundRect">
            <a:avLst>
              <a:gd name="adj" fmla="val 30000"/>
            </a:avLst>
          </a:prstGeom>
          <a:solidFill>
            <a:srgbClr val="E2F0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12700" rIns="50800" bIns="12700" rtlCol="0" anchor="ctr"/>
          <a:lstStyle/>
          <a:p>
            <a:pPr algn="ctr"/>
            <a:r>
              <a:rPr lang="en-US" altLang="zh-CN" sz="1500" b="1">
                <a:solidFill>
                  <a:srgbClr val="2C7053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3</a:t>
            </a:r>
            <a:endParaRPr lang="zh-CN" altLang="en-US" sz="1500" b="1">
              <a:solidFill>
                <a:srgbClr val="2C7053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3CA7532-C0A5-CBAB-4400-400CC3BC085E}"/>
              </a:ext>
            </a:extLst>
          </p:cNvPr>
          <p:cNvSpPr txBox="1"/>
          <p:nvPr/>
        </p:nvSpPr>
        <p:spPr>
          <a:xfrm>
            <a:off x="8305800" y="2870200"/>
            <a:ext cx="2844800" cy="330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zh-CN" altLang="en-US" b="1">
                <a:solidFill>
                  <a:srgbClr val="1A1A19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一个应用，多个引擎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BA0354A6-C8BF-4C37-68EC-97B27D45FE6E}"/>
              </a:ext>
            </a:extLst>
          </p:cNvPr>
          <p:cNvSpPr txBox="1"/>
          <p:nvPr/>
        </p:nvSpPr>
        <p:spPr>
          <a:xfrm>
            <a:off x="8305800" y="3327400"/>
            <a:ext cx="2844800" cy="1397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zh-CN" altLang="en-US" sz="1300">
                <a:solidFill>
                  <a:srgbClr val="52524E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新会话开始前选择引擎；同一套界面按各引擎声明的能力自动适配。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2547A6A6-481A-B08F-AE5E-1FD78BEF65AC}"/>
              </a:ext>
            </a:extLst>
          </p:cNvPr>
          <p:cNvSpPr/>
          <p:nvPr/>
        </p:nvSpPr>
        <p:spPr>
          <a:xfrm>
            <a:off x="762000" y="5207000"/>
            <a:ext cx="10668000" cy="787400"/>
          </a:xfrm>
          <a:prstGeom prst="roundRect">
            <a:avLst>
              <a:gd name="adj" fmla="val 12000"/>
            </a:avLst>
          </a:prstGeom>
          <a:solidFill>
            <a:srgbClr val="28383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12700" rIns="50800" bIns="12700" rtlCol="0" anchor="ctr"/>
          <a:lstStyle/>
          <a:p>
            <a:pPr algn="ctr"/>
            <a:r>
              <a:rPr lang="en-US" altLang="zh-CN" sz="1400">
                <a:solidFill>
                  <a:srgbClr val="FFFFFF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Codex </a:t>
            </a:r>
            <a:r>
              <a:rPr lang="zh-CN" altLang="en-US" sz="1400">
                <a:solidFill>
                  <a:srgbClr val="FFFFFF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与 </a:t>
            </a:r>
            <a:r>
              <a:rPr lang="en-US" altLang="zh-CN" sz="1400">
                <a:solidFill>
                  <a:srgbClr val="FFFFFF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Pi </a:t>
            </a:r>
            <a:r>
              <a:rPr lang="zh-CN" altLang="en-US" sz="1400">
                <a:solidFill>
                  <a:srgbClr val="FFFFFF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可自定义模型服务商（</a:t>
            </a:r>
            <a:r>
              <a:rPr lang="en-US" altLang="zh-CN" sz="1400">
                <a:solidFill>
                  <a:srgbClr val="FFFFFF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OpenAI </a:t>
            </a:r>
            <a:r>
              <a:rPr lang="zh-CN" altLang="en-US" sz="1400">
                <a:solidFill>
                  <a:srgbClr val="FFFFFF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兼容 </a:t>
            </a:r>
            <a:r>
              <a:rPr lang="en-US" altLang="zh-CN" sz="1400">
                <a:solidFill>
                  <a:srgbClr val="FFFFFF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/ Responses API</a:t>
            </a:r>
            <a:r>
              <a:rPr lang="zh-CN" altLang="en-US" sz="1400">
                <a:solidFill>
                  <a:srgbClr val="FFFFFF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），第三方网关同样可用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5105FBF6-C96C-AB03-4C25-FE591D6D090C}"/>
              </a:ext>
            </a:extLst>
          </p:cNvPr>
          <p:cNvSpPr txBox="1"/>
          <p:nvPr/>
        </p:nvSpPr>
        <p:spPr>
          <a:xfrm>
            <a:off x="762000" y="6451600"/>
            <a:ext cx="5080000" cy="177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n-US" altLang="zh-CN" sz="900">
                <a:solidFill>
                  <a:srgbClr val="70706B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MarioCode · v0.2.45</a:t>
            </a:r>
            <a:endParaRPr lang="zh-CN" altLang="en-US" sz="900">
              <a:solidFill>
                <a:srgbClr val="70706B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1E23D7DB-BF9D-33ED-ADF5-9379D17304EE}"/>
              </a:ext>
            </a:extLst>
          </p:cNvPr>
          <p:cNvSpPr txBox="1"/>
          <p:nvPr/>
        </p:nvSpPr>
        <p:spPr>
          <a:xfrm>
            <a:off x="10160000" y="6451600"/>
            <a:ext cx="1270000" cy="177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>
              <a:lnSpc>
                <a:spcPct val="115000"/>
              </a:lnSpc>
            </a:pPr>
            <a:r>
              <a:rPr lang="en-US" altLang="zh-CN" sz="900">
                <a:solidFill>
                  <a:srgbClr val="70706B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02</a:t>
            </a:r>
            <a:endParaRPr lang="zh-CN" altLang="en-US" sz="900">
              <a:solidFill>
                <a:srgbClr val="70706B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561257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0E124711-998C-E7C7-2C79-723F2D70E268}"/>
              </a:ext>
            </a:extLst>
          </p:cNvPr>
          <p:cNvSpPr txBox="1"/>
          <p:nvPr/>
        </p:nvSpPr>
        <p:spPr>
          <a:xfrm>
            <a:off x="762000" y="482600"/>
            <a:ext cx="7620000" cy="203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n-US" altLang="zh-CN" sz="1100" b="1">
                <a:solidFill>
                  <a:srgbClr val="2C7053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02 · </a:t>
            </a:r>
            <a:r>
              <a:rPr lang="zh-CN" altLang="en-US" sz="1100" b="1">
                <a:solidFill>
                  <a:srgbClr val="2C7053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引擎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2CBB355-1041-D537-10DE-D43D3D733380}"/>
              </a:ext>
            </a:extLst>
          </p:cNvPr>
          <p:cNvSpPr txBox="1"/>
          <p:nvPr/>
        </p:nvSpPr>
        <p:spPr>
          <a:xfrm>
            <a:off x="762000" y="736600"/>
            <a:ext cx="10668000" cy="558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zh-CN" altLang="en-US" sz="3000" b="1">
                <a:solidFill>
                  <a:srgbClr val="1A1A19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三个引擎，一套界面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108F978-DDA7-9FD9-9B02-A81F6EDBF1B0}"/>
              </a:ext>
            </a:extLst>
          </p:cNvPr>
          <p:cNvSpPr txBox="1"/>
          <p:nvPr/>
        </p:nvSpPr>
        <p:spPr>
          <a:xfrm>
            <a:off x="762000" y="1320800"/>
            <a:ext cx="106680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zh-CN" altLang="en-US" sz="1400">
                <a:solidFill>
                  <a:srgbClr val="52524E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会话开始前选一个引擎；运行时按需下载，安装包不内置。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23C9D8F4-F364-718D-F407-82D5A9BE4447}"/>
              </a:ext>
            </a:extLst>
          </p:cNvPr>
          <p:cNvSpPr/>
          <p:nvPr/>
        </p:nvSpPr>
        <p:spPr>
          <a:xfrm>
            <a:off x="762000" y="1905000"/>
            <a:ext cx="3403600" cy="3200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4E4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B3D26E5-6F9A-71DF-615E-7701C42A134E}"/>
              </a:ext>
            </a:extLst>
          </p:cNvPr>
          <p:cNvSpPr/>
          <p:nvPr/>
        </p:nvSpPr>
        <p:spPr>
          <a:xfrm>
            <a:off x="762000" y="1905000"/>
            <a:ext cx="3403600" cy="127000"/>
          </a:xfrm>
          <a:prstGeom prst="rect">
            <a:avLst/>
          </a:prstGeom>
          <a:solidFill>
            <a:srgbClr val="28383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B7F9082-AAFB-C79A-728F-38665FBB2406}"/>
              </a:ext>
            </a:extLst>
          </p:cNvPr>
          <p:cNvSpPr txBox="1"/>
          <p:nvPr/>
        </p:nvSpPr>
        <p:spPr>
          <a:xfrm>
            <a:off x="1041400" y="2311400"/>
            <a:ext cx="2844800" cy="457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n-US" altLang="zh-CN" sz="2800" b="1">
                <a:solidFill>
                  <a:srgbClr val="1A1A19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Claude</a:t>
            </a:r>
            <a:endParaRPr lang="zh-CN" altLang="en-US" sz="2800" b="1">
              <a:solidFill>
                <a:srgbClr val="1A1A19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574668B-4AEE-F18B-65D5-43ABBEC417D9}"/>
              </a:ext>
            </a:extLst>
          </p:cNvPr>
          <p:cNvSpPr txBox="1"/>
          <p:nvPr/>
        </p:nvSpPr>
        <p:spPr>
          <a:xfrm>
            <a:off x="1041400" y="2844800"/>
            <a:ext cx="28448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n-US" altLang="zh-CN" sz="1200" b="1">
                <a:solidFill>
                  <a:srgbClr val="2C7053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Claude Agent SDK</a:t>
            </a:r>
            <a:endParaRPr lang="zh-CN" altLang="en-US" sz="1200" b="1">
              <a:solidFill>
                <a:srgbClr val="2C7053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88F3867-9AE0-8B92-58C1-558FD0B79DE5}"/>
              </a:ext>
            </a:extLst>
          </p:cNvPr>
          <p:cNvSpPr txBox="1"/>
          <p:nvPr/>
        </p:nvSpPr>
        <p:spPr>
          <a:xfrm>
            <a:off x="1041400" y="3251200"/>
            <a:ext cx="2844800" cy="165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zh-CN" altLang="en-US" sz="1300">
                <a:solidFill>
                  <a:srgbClr val="52524E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官方 </a:t>
            </a:r>
            <a:r>
              <a:rPr lang="en-US" altLang="zh-CN" sz="1300">
                <a:solidFill>
                  <a:srgbClr val="52524E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Agent SDK</a:t>
            </a:r>
            <a:r>
              <a:rPr lang="zh-CN" altLang="en-US" sz="1300">
                <a:solidFill>
                  <a:srgbClr val="52524E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。支持思考强度、权限模式和内置模型选择，也可以配置自定义端点。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AD41AA0B-CCBB-B718-F885-F60E5A1717D1}"/>
              </a:ext>
            </a:extLst>
          </p:cNvPr>
          <p:cNvSpPr/>
          <p:nvPr/>
        </p:nvSpPr>
        <p:spPr>
          <a:xfrm>
            <a:off x="4394200" y="1905000"/>
            <a:ext cx="3403600" cy="3200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4E4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ED8EDBA-90E7-4724-6580-4B216DB56B72}"/>
              </a:ext>
            </a:extLst>
          </p:cNvPr>
          <p:cNvSpPr/>
          <p:nvPr/>
        </p:nvSpPr>
        <p:spPr>
          <a:xfrm>
            <a:off x="4394200" y="1905000"/>
            <a:ext cx="3403600" cy="127000"/>
          </a:xfrm>
          <a:prstGeom prst="rect">
            <a:avLst/>
          </a:prstGeom>
          <a:solidFill>
            <a:srgbClr val="5CA08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2ACDCA0-DFE0-2069-3E3B-2C4CA43AFFCB}"/>
              </a:ext>
            </a:extLst>
          </p:cNvPr>
          <p:cNvSpPr txBox="1"/>
          <p:nvPr/>
        </p:nvSpPr>
        <p:spPr>
          <a:xfrm>
            <a:off x="4673600" y="2311400"/>
            <a:ext cx="2844800" cy="457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n-US" altLang="zh-CN" sz="2800" b="1">
                <a:solidFill>
                  <a:srgbClr val="1A1A19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Codex</a:t>
            </a:r>
            <a:endParaRPr lang="zh-CN" altLang="en-US" sz="2800" b="1">
              <a:solidFill>
                <a:srgbClr val="1A1A19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EA50DB5-C11C-A0C3-4758-F115971F6BDF}"/>
              </a:ext>
            </a:extLst>
          </p:cNvPr>
          <p:cNvSpPr txBox="1"/>
          <p:nvPr/>
        </p:nvSpPr>
        <p:spPr>
          <a:xfrm>
            <a:off x="4673600" y="2844800"/>
            <a:ext cx="28448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n-US" altLang="zh-CN" sz="1200" b="1">
                <a:solidFill>
                  <a:srgbClr val="2C7053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OpenAI Codex app-server</a:t>
            </a:r>
            <a:endParaRPr lang="zh-CN" altLang="en-US" sz="1200" b="1">
              <a:solidFill>
                <a:srgbClr val="2C7053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7162DCF7-4076-438A-8F8E-1C313AA248E9}"/>
              </a:ext>
            </a:extLst>
          </p:cNvPr>
          <p:cNvSpPr txBox="1"/>
          <p:nvPr/>
        </p:nvSpPr>
        <p:spPr>
          <a:xfrm>
            <a:off x="4673600" y="3251200"/>
            <a:ext cx="2844800" cy="165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zh-CN" altLang="en-US" sz="1300">
                <a:solidFill>
                  <a:srgbClr val="52524E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支持第三方模型服务商（</a:t>
            </a:r>
            <a:r>
              <a:rPr lang="en-US" altLang="zh-CN" sz="1300">
                <a:solidFill>
                  <a:srgbClr val="52524E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OpenAI </a:t>
            </a:r>
            <a:r>
              <a:rPr lang="zh-CN" altLang="en-US" sz="1300">
                <a:solidFill>
                  <a:srgbClr val="52524E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兼容 </a:t>
            </a:r>
            <a:r>
              <a:rPr lang="en-US" altLang="zh-CN" sz="1300">
                <a:solidFill>
                  <a:srgbClr val="52524E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/ Responses API</a:t>
            </a:r>
            <a:r>
              <a:rPr lang="zh-CN" altLang="en-US" sz="1300">
                <a:solidFill>
                  <a:srgbClr val="52524E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），可按模型覆盖上下文窗口（如 </a:t>
            </a:r>
            <a:r>
              <a:rPr lang="en-US" altLang="zh-CN" sz="1300">
                <a:solidFill>
                  <a:srgbClr val="52524E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1M</a:t>
            </a:r>
            <a:r>
              <a:rPr lang="zh-CN" altLang="en-US" sz="1300">
                <a:solidFill>
                  <a:srgbClr val="52524E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），生成的图片直接显示在对话里。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230774B3-36A2-03CD-421D-5A9BBA8F7E5B}"/>
              </a:ext>
            </a:extLst>
          </p:cNvPr>
          <p:cNvSpPr/>
          <p:nvPr/>
        </p:nvSpPr>
        <p:spPr>
          <a:xfrm>
            <a:off x="8026400" y="1905000"/>
            <a:ext cx="3403600" cy="3200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4E4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E9F46D9-E154-F524-0C1B-48FEF8879D9E}"/>
              </a:ext>
            </a:extLst>
          </p:cNvPr>
          <p:cNvSpPr/>
          <p:nvPr/>
        </p:nvSpPr>
        <p:spPr>
          <a:xfrm>
            <a:off x="8026400" y="1905000"/>
            <a:ext cx="3403600" cy="127000"/>
          </a:xfrm>
          <a:prstGeom prst="rect">
            <a:avLst/>
          </a:prstGeom>
          <a:solidFill>
            <a:srgbClr val="8BC0A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E6826B7A-99DA-86D2-02A6-0927AC73D901}"/>
              </a:ext>
            </a:extLst>
          </p:cNvPr>
          <p:cNvSpPr txBox="1"/>
          <p:nvPr/>
        </p:nvSpPr>
        <p:spPr>
          <a:xfrm>
            <a:off x="8305800" y="2311400"/>
            <a:ext cx="2844800" cy="457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n-US" altLang="zh-CN" sz="2800" b="1">
                <a:solidFill>
                  <a:srgbClr val="1A1A19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Pi</a:t>
            </a:r>
            <a:endParaRPr lang="zh-CN" altLang="en-US" sz="2800" b="1">
              <a:solidFill>
                <a:srgbClr val="1A1A19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D53BD929-1820-F94A-2854-D6B3C46B451A}"/>
              </a:ext>
            </a:extLst>
          </p:cNvPr>
          <p:cNvSpPr txBox="1"/>
          <p:nvPr/>
        </p:nvSpPr>
        <p:spPr>
          <a:xfrm>
            <a:off x="8305800" y="2844800"/>
            <a:ext cx="28448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n-US" altLang="zh-CN" sz="1200" b="1">
                <a:solidFill>
                  <a:srgbClr val="2C7053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Pi Coding Agent</a:t>
            </a:r>
            <a:endParaRPr lang="zh-CN" altLang="en-US" sz="1200" b="1">
              <a:solidFill>
                <a:srgbClr val="2C7053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1657FED6-1FA3-D977-850B-908D428E4B82}"/>
              </a:ext>
            </a:extLst>
          </p:cNvPr>
          <p:cNvSpPr txBox="1"/>
          <p:nvPr/>
        </p:nvSpPr>
        <p:spPr>
          <a:xfrm>
            <a:off x="8305800" y="3251200"/>
            <a:ext cx="2844800" cy="165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zh-CN" altLang="en-US" sz="1300">
                <a:solidFill>
                  <a:srgbClr val="52524E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在 设置 → 模型 中配置服务商与模型；</a:t>
            </a:r>
            <a:r>
              <a:rPr lang="en-US" altLang="zh-CN" sz="1300">
                <a:solidFill>
                  <a:srgbClr val="52524E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API Key </a:t>
            </a:r>
            <a:r>
              <a:rPr lang="zh-CN" altLang="en-US" sz="1300">
                <a:solidFill>
                  <a:srgbClr val="52524E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通过 </a:t>
            </a:r>
            <a:r>
              <a:rPr lang="en-US" altLang="zh-CN" sz="1300">
                <a:solidFill>
                  <a:srgbClr val="52524E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Electron safeStorage </a:t>
            </a:r>
            <a:r>
              <a:rPr lang="zh-CN" altLang="en-US" sz="1300">
                <a:solidFill>
                  <a:srgbClr val="52524E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加密保存。</a:t>
            </a: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F7EB2EBF-5B68-2CFE-0D2B-07D74B98CD42}"/>
              </a:ext>
            </a:extLst>
          </p:cNvPr>
          <p:cNvSpPr/>
          <p:nvPr/>
        </p:nvSpPr>
        <p:spPr>
          <a:xfrm>
            <a:off x="762000" y="5384800"/>
            <a:ext cx="10668000" cy="635000"/>
          </a:xfrm>
          <a:prstGeom prst="roundRect">
            <a:avLst>
              <a:gd name="adj" fmla="val 14000"/>
            </a:avLst>
          </a:prstGeom>
          <a:solidFill>
            <a:srgbClr val="E2F0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12700" rIns="50800" bIns="12700" rtlCol="0" anchor="ctr"/>
          <a:lstStyle/>
          <a:p>
            <a:pPr algn="ctr"/>
            <a:r>
              <a:rPr lang="en-US" altLang="zh-CN" sz="1300" b="1">
                <a:solidFill>
                  <a:srgbClr val="2C7053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AgentProvider </a:t>
            </a:r>
            <a:r>
              <a:rPr lang="zh-CN" altLang="en-US" sz="1300" b="1">
                <a:solidFill>
                  <a:srgbClr val="2C7053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抽象层：引擎声明各自能力，界面自动适配（思考强度、权限模式、模型、自定义端点）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F0C3995-2643-39C3-5D93-EA91BF2CC25C}"/>
              </a:ext>
            </a:extLst>
          </p:cNvPr>
          <p:cNvSpPr txBox="1"/>
          <p:nvPr/>
        </p:nvSpPr>
        <p:spPr>
          <a:xfrm>
            <a:off x="762000" y="6451600"/>
            <a:ext cx="5080000" cy="177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n-US" altLang="zh-CN" sz="900">
                <a:solidFill>
                  <a:srgbClr val="70706B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MarioCode · v0.2.45</a:t>
            </a:r>
            <a:endParaRPr lang="zh-CN" altLang="en-US" sz="900">
              <a:solidFill>
                <a:srgbClr val="70706B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5CC06DAB-C161-589D-22DC-E24A77F41E35}"/>
              </a:ext>
            </a:extLst>
          </p:cNvPr>
          <p:cNvSpPr txBox="1"/>
          <p:nvPr/>
        </p:nvSpPr>
        <p:spPr>
          <a:xfrm>
            <a:off x="10160000" y="6451600"/>
            <a:ext cx="1270000" cy="177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>
              <a:lnSpc>
                <a:spcPct val="115000"/>
              </a:lnSpc>
            </a:pPr>
            <a:r>
              <a:rPr lang="en-US" altLang="zh-CN" sz="900">
                <a:solidFill>
                  <a:srgbClr val="70706B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03</a:t>
            </a:r>
            <a:endParaRPr lang="zh-CN" altLang="en-US" sz="900">
              <a:solidFill>
                <a:srgbClr val="70706B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710631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504CDD68-3A53-CE57-4615-D87C408F079A}"/>
              </a:ext>
            </a:extLst>
          </p:cNvPr>
          <p:cNvSpPr txBox="1"/>
          <p:nvPr/>
        </p:nvSpPr>
        <p:spPr>
          <a:xfrm>
            <a:off x="762000" y="482600"/>
            <a:ext cx="7620000" cy="203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n-US" altLang="zh-CN" sz="1100" b="1">
                <a:solidFill>
                  <a:srgbClr val="2C7053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03 · </a:t>
            </a:r>
            <a:r>
              <a:rPr lang="zh-CN" altLang="en-US" sz="1100" b="1">
                <a:solidFill>
                  <a:srgbClr val="2C7053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对话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C73A7D4-9591-1E73-7406-0F77CDA42FB6}"/>
              </a:ext>
            </a:extLst>
          </p:cNvPr>
          <p:cNvSpPr txBox="1"/>
          <p:nvPr/>
        </p:nvSpPr>
        <p:spPr>
          <a:xfrm>
            <a:off x="762000" y="736600"/>
            <a:ext cx="10668000" cy="558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zh-CN" altLang="en-US" sz="3000" b="1">
                <a:solidFill>
                  <a:srgbClr val="1A1A19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看得见 </a:t>
            </a:r>
            <a:r>
              <a:rPr lang="en-US" altLang="zh-CN" sz="3000" b="1">
                <a:solidFill>
                  <a:srgbClr val="1A1A19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Agent </a:t>
            </a:r>
            <a:r>
              <a:rPr lang="zh-CN" altLang="en-US" sz="3000" b="1">
                <a:solidFill>
                  <a:srgbClr val="1A1A19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在做什么，也管得住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2A825E8-D826-7FF0-848A-053B311AFB63}"/>
              </a:ext>
            </a:extLst>
          </p:cNvPr>
          <p:cNvSpPr txBox="1"/>
          <p:nvPr/>
        </p:nvSpPr>
        <p:spPr>
          <a:xfrm>
            <a:off x="762000" y="1320800"/>
            <a:ext cx="106680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zh-CN" altLang="en-US" sz="1400">
                <a:solidFill>
                  <a:srgbClr val="52524E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逐字流式输出，每一次工具调用都可以审批，改坏了可以回退。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1C45802F-38ED-2C7E-2CA4-6A5EC353F557}"/>
              </a:ext>
            </a:extLst>
          </p:cNvPr>
          <p:cNvSpPr/>
          <p:nvPr/>
        </p:nvSpPr>
        <p:spPr>
          <a:xfrm>
            <a:off x="762000" y="1905000"/>
            <a:ext cx="3327400" cy="1905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4E4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22F44DB-56DA-DD80-9875-C67A432D1882}"/>
              </a:ext>
            </a:extLst>
          </p:cNvPr>
          <p:cNvSpPr/>
          <p:nvPr/>
        </p:nvSpPr>
        <p:spPr>
          <a:xfrm>
            <a:off x="1016000" y="2184400"/>
            <a:ext cx="76200" cy="279400"/>
          </a:xfrm>
          <a:prstGeom prst="rect">
            <a:avLst/>
          </a:prstGeom>
          <a:solidFill>
            <a:srgbClr val="5CA08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2B72BE8-9FE4-D839-A430-C48F849ED35C}"/>
              </a:ext>
            </a:extLst>
          </p:cNvPr>
          <p:cNvSpPr txBox="1"/>
          <p:nvPr/>
        </p:nvSpPr>
        <p:spPr>
          <a:xfrm>
            <a:off x="1219200" y="2159000"/>
            <a:ext cx="2667000" cy="330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zh-CN" altLang="en-US" sz="1700" b="1">
                <a:solidFill>
                  <a:srgbClr val="1A1A19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实时流式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363EC21-0624-6105-F145-4BC4B396AE71}"/>
              </a:ext>
            </a:extLst>
          </p:cNvPr>
          <p:cNvSpPr txBox="1"/>
          <p:nvPr/>
        </p:nvSpPr>
        <p:spPr>
          <a:xfrm>
            <a:off x="1016000" y="2667000"/>
            <a:ext cx="2844800" cy="1016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zh-CN" altLang="en-US" sz="1300">
                <a:solidFill>
                  <a:srgbClr val="52524E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回复、思考、工具调用和结果以结构化卡片逐字呈现，长任务不用盯终端。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5C611C1B-083A-9CD7-CA49-E756915308E6}"/>
              </a:ext>
            </a:extLst>
          </p:cNvPr>
          <p:cNvSpPr/>
          <p:nvPr/>
        </p:nvSpPr>
        <p:spPr>
          <a:xfrm>
            <a:off x="4241800" y="1905000"/>
            <a:ext cx="3327400" cy="1905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4E4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502C329-74A2-3945-F705-BCDDEE78D041}"/>
              </a:ext>
            </a:extLst>
          </p:cNvPr>
          <p:cNvSpPr/>
          <p:nvPr/>
        </p:nvSpPr>
        <p:spPr>
          <a:xfrm>
            <a:off x="4495800" y="2184400"/>
            <a:ext cx="76200" cy="279400"/>
          </a:xfrm>
          <a:prstGeom prst="rect">
            <a:avLst/>
          </a:prstGeom>
          <a:solidFill>
            <a:srgbClr val="5CA08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4A2A257-8DE7-7E16-625B-F1C10F379D9D}"/>
              </a:ext>
            </a:extLst>
          </p:cNvPr>
          <p:cNvSpPr txBox="1"/>
          <p:nvPr/>
        </p:nvSpPr>
        <p:spPr>
          <a:xfrm>
            <a:off x="4699000" y="2159000"/>
            <a:ext cx="2667000" cy="330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zh-CN" altLang="en-US" sz="1700" b="1">
                <a:solidFill>
                  <a:srgbClr val="1A1A19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工具审批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7F07ABB-3E55-FDA9-D0D7-ADAE3ECFE3D7}"/>
              </a:ext>
            </a:extLst>
          </p:cNvPr>
          <p:cNvSpPr txBox="1"/>
          <p:nvPr/>
        </p:nvSpPr>
        <p:spPr>
          <a:xfrm>
            <a:off x="4495800" y="2667000"/>
            <a:ext cx="2844800" cy="1016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zh-CN" altLang="en-US" sz="1300">
                <a:solidFill>
                  <a:srgbClr val="52524E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允许 </a:t>
            </a:r>
            <a:r>
              <a:rPr lang="en-US" altLang="zh-CN" sz="1300">
                <a:solidFill>
                  <a:srgbClr val="52524E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/ </a:t>
            </a:r>
            <a:r>
              <a:rPr lang="zh-CN" altLang="en-US" sz="1300">
                <a:solidFill>
                  <a:srgbClr val="52524E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始终允许 </a:t>
            </a:r>
            <a:r>
              <a:rPr lang="en-US" altLang="zh-CN" sz="1300">
                <a:solidFill>
                  <a:srgbClr val="52524E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/ </a:t>
            </a:r>
            <a:r>
              <a:rPr lang="zh-CN" altLang="en-US" sz="1300">
                <a:solidFill>
                  <a:srgbClr val="52524E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拒绝；多个请求按会话排队，不会漏掉。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22E10AF3-80B4-16CC-4518-DBE5D7BA5E76}"/>
              </a:ext>
            </a:extLst>
          </p:cNvPr>
          <p:cNvSpPr/>
          <p:nvPr/>
        </p:nvSpPr>
        <p:spPr>
          <a:xfrm>
            <a:off x="762000" y="4013200"/>
            <a:ext cx="3327400" cy="1905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4E4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800EDDC-F20B-0F63-794E-E2DC56C3F17E}"/>
              </a:ext>
            </a:extLst>
          </p:cNvPr>
          <p:cNvSpPr/>
          <p:nvPr/>
        </p:nvSpPr>
        <p:spPr>
          <a:xfrm>
            <a:off x="1016000" y="4292600"/>
            <a:ext cx="76200" cy="279400"/>
          </a:xfrm>
          <a:prstGeom prst="rect">
            <a:avLst/>
          </a:prstGeom>
          <a:solidFill>
            <a:srgbClr val="5CA08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5D2E1BE-D297-C606-E097-3AF480C3B7BC}"/>
              </a:ext>
            </a:extLst>
          </p:cNvPr>
          <p:cNvSpPr txBox="1"/>
          <p:nvPr/>
        </p:nvSpPr>
        <p:spPr>
          <a:xfrm>
            <a:off x="1219200" y="4267200"/>
            <a:ext cx="2667000" cy="330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zh-CN" altLang="en-US" sz="1700" b="1">
                <a:solidFill>
                  <a:srgbClr val="1A1A19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计划模式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E98452E1-C998-E181-D1B5-7C32CF4C60CC}"/>
              </a:ext>
            </a:extLst>
          </p:cNvPr>
          <p:cNvSpPr txBox="1"/>
          <p:nvPr/>
        </p:nvSpPr>
        <p:spPr>
          <a:xfrm>
            <a:off x="1016000" y="4775200"/>
            <a:ext cx="2844800" cy="1016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n-US" altLang="zh-CN" sz="1300">
                <a:solidFill>
                  <a:srgbClr val="52524E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Agent </a:t>
            </a:r>
            <a:r>
              <a:rPr lang="zh-CN" altLang="en-US" sz="1300">
                <a:solidFill>
                  <a:srgbClr val="52524E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先调研并给出方案，你确认后才开始动手。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625562E9-EF65-0B52-E06D-EA47FB93CDD2}"/>
              </a:ext>
            </a:extLst>
          </p:cNvPr>
          <p:cNvSpPr/>
          <p:nvPr/>
        </p:nvSpPr>
        <p:spPr>
          <a:xfrm>
            <a:off x="4241800" y="4013200"/>
            <a:ext cx="3327400" cy="1905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4E4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D97E3FD-E3D0-F51E-E7AD-409E25DB42B5}"/>
              </a:ext>
            </a:extLst>
          </p:cNvPr>
          <p:cNvSpPr/>
          <p:nvPr/>
        </p:nvSpPr>
        <p:spPr>
          <a:xfrm>
            <a:off x="4495800" y="4292600"/>
            <a:ext cx="76200" cy="279400"/>
          </a:xfrm>
          <a:prstGeom prst="rect">
            <a:avLst/>
          </a:prstGeom>
          <a:solidFill>
            <a:srgbClr val="5CA08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F01DEACE-47B9-07EA-273C-ECBBF513E3F5}"/>
              </a:ext>
            </a:extLst>
          </p:cNvPr>
          <p:cNvSpPr txBox="1"/>
          <p:nvPr/>
        </p:nvSpPr>
        <p:spPr>
          <a:xfrm>
            <a:off x="4699000" y="4267200"/>
            <a:ext cx="2667000" cy="330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zh-CN" altLang="en-US" sz="1700" b="1">
                <a:solidFill>
                  <a:srgbClr val="1A1A19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逐轮回退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2A0E6BF8-6843-B41A-66FE-A924923F65B4}"/>
              </a:ext>
            </a:extLst>
          </p:cNvPr>
          <p:cNvSpPr txBox="1"/>
          <p:nvPr/>
        </p:nvSpPr>
        <p:spPr>
          <a:xfrm>
            <a:off x="4495800" y="4775200"/>
            <a:ext cx="2844800" cy="1016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zh-CN" altLang="en-US" sz="1300">
                <a:solidFill>
                  <a:srgbClr val="52524E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每轮保留文件快照，一键恢复该轮 </a:t>
            </a:r>
            <a:r>
              <a:rPr lang="en-US" altLang="zh-CN" sz="1300">
                <a:solidFill>
                  <a:srgbClr val="52524E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Agent </a:t>
            </a:r>
            <a:r>
              <a:rPr lang="zh-CN" altLang="en-US" sz="1300">
                <a:solidFill>
                  <a:srgbClr val="52524E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改过的文件。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470807AA-27E1-364B-C809-DEAEF68F239E}"/>
              </a:ext>
            </a:extLst>
          </p:cNvPr>
          <p:cNvSpPr/>
          <p:nvPr/>
        </p:nvSpPr>
        <p:spPr>
          <a:xfrm>
            <a:off x="7874000" y="1905000"/>
            <a:ext cx="3556000" cy="401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4E4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624FE774-CEC4-3F14-1FE9-2AE59AC4E4A4}"/>
              </a:ext>
            </a:extLst>
          </p:cNvPr>
          <p:cNvSpPr txBox="1"/>
          <p:nvPr/>
        </p:nvSpPr>
        <p:spPr>
          <a:xfrm>
            <a:off x="8128000" y="2108200"/>
            <a:ext cx="3048000" cy="177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zh-CN" altLang="en-US" sz="1000">
                <a:solidFill>
                  <a:srgbClr val="70706B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示意 </a:t>
            </a:r>
            <a:r>
              <a:rPr lang="en-US" altLang="zh-CN" sz="1000">
                <a:solidFill>
                  <a:srgbClr val="70706B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· </a:t>
            </a:r>
            <a:r>
              <a:rPr lang="zh-CN" altLang="en-US" sz="1000">
                <a:solidFill>
                  <a:srgbClr val="70706B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工具审批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F634AEA5-BFCD-C000-2949-037762F06B2C}"/>
              </a:ext>
            </a:extLst>
          </p:cNvPr>
          <p:cNvSpPr/>
          <p:nvPr/>
        </p:nvSpPr>
        <p:spPr>
          <a:xfrm>
            <a:off x="8128000" y="2438400"/>
            <a:ext cx="711200" cy="279400"/>
          </a:xfrm>
          <a:prstGeom prst="roundRect">
            <a:avLst>
              <a:gd name="adj" fmla="val 30000"/>
            </a:avLst>
          </a:prstGeom>
          <a:solidFill>
            <a:srgbClr val="E2F0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12700" rIns="50800" bIns="12700" rtlCol="0" anchor="ctr"/>
          <a:lstStyle/>
          <a:p>
            <a:pPr algn="ctr"/>
            <a:r>
              <a:rPr lang="en-US" altLang="zh-CN" sz="1100" b="1">
                <a:solidFill>
                  <a:srgbClr val="2C7053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Bash</a:t>
            </a:r>
            <a:endParaRPr lang="zh-CN" altLang="en-US" sz="1100" b="1">
              <a:solidFill>
                <a:srgbClr val="2C7053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5F458615-0736-2266-71A2-7580BA0A6EEA}"/>
              </a:ext>
            </a:extLst>
          </p:cNvPr>
          <p:cNvSpPr txBox="1"/>
          <p:nvPr/>
        </p:nvSpPr>
        <p:spPr>
          <a:xfrm>
            <a:off x="8966200" y="2489200"/>
            <a:ext cx="2286000" cy="203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n-US" altLang="zh-CN" sz="1200">
                <a:solidFill>
                  <a:srgbClr val="52524E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Agent </a:t>
            </a:r>
            <a:r>
              <a:rPr lang="zh-CN" altLang="en-US" sz="1200">
                <a:solidFill>
                  <a:srgbClr val="52524E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请求执行命令</a:t>
            </a: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4A29B46B-27E6-6059-21CD-516EA47BC9AA}"/>
              </a:ext>
            </a:extLst>
          </p:cNvPr>
          <p:cNvSpPr/>
          <p:nvPr/>
        </p:nvSpPr>
        <p:spPr>
          <a:xfrm>
            <a:off x="8128000" y="2921000"/>
            <a:ext cx="3048000" cy="939800"/>
          </a:xfrm>
          <a:prstGeom prst="roundRect">
            <a:avLst>
              <a:gd name="adj" fmla="val 8000"/>
            </a:avLst>
          </a:prstGeom>
          <a:solidFill>
            <a:srgbClr val="F6F6F5"/>
          </a:solidFill>
          <a:ln w="9525">
            <a:solidFill>
              <a:srgbClr val="E4E4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FBF0847B-60D6-EF39-389F-161BB12B4202}"/>
              </a:ext>
            </a:extLst>
          </p:cNvPr>
          <p:cNvSpPr txBox="1"/>
          <p:nvPr/>
        </p:nvSpPr>
        <p:spPr>
          <a:xfrm>
            <a:off x="8280400" y="3073400"/>
            <a:ext cx="2743200" cy="660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n-US" altLang="zh-CN" sz="1200">
                <a:solidFill>
                  <a:srgbClr val="1A1A19"/>
                </a:solidFill>
                <a:latin typeface="Consolas" panose="020B0609020204030204" pitchFamily="49" charset="0"/>
              </a:rPr>
              <a:t>pnpm test --filter desktop</a:t>
            </a:r>
            <a:endParaRPr lang="zh-CN" altLang="en-US" sz="1200">
              <a:solidFill>
                <a:srgbClr val="1A1A19"/>
              </a:solidFill>
              <a:latin typeface="Consolas" panose="020B0609020204030204" pitchFamily="49" charset="0"/>
            </a:endParaRP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A9C2917D-D36C-0128-9056-CAFA7D4A0A96}"/>
              </a:ext>
            </a:extLst>
          </p:cNvPr>
          <p:cNvSpPr/>
          <p:nvPr/>
        </p:nvSpPr>
        <p:spPr>
          <a:xfrm>
            <a:off x="8128000" y="4165600"/>
            <a:ext cx="3048000" cy="457200"/>
          </a:xfrm>
          <a:prstGeom prst="roundRect">
            <a:avLst>
              <a:gd name="adj" fmla="val 18000"/>
            </a:avLst>
          </a:prstGeom>
          <a:solidFill>
            <a:srgbClr val="28383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12700" rIns="50800" bIns="12700" rtlCol="0" anchor="ctr"/>
          <a:lstStyle/>
          <a:p>
            <a:pPr algn="ctr"/>
            <a:r>
              <a:rPr lang="zh-CN" altLang="en-US" sz="1300" b="1">
                <a:solidFill>
                  <a:srgbClr val="FFFFFF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允许</a:t>
            </a:r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A9E27E49-14B6-C4C8-98D9-599B64BB00FE}"/>
              </a:ext>
            </a:extLst>
          </p:cNvPr>
          <p:cNvSpPr/>
          <p:nvPr/>
        </p:nvSpPr>
        <p:spPr>
          <a:xfrm>
            <a:off x="8128000" y="4724400"/>
            <a:ext cx="1473200" cy="4318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E4E4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12700" rIns="50800" bIns="12700" rtlCol="0" anchor="ctr"/>
          <a:lstStyle/>
          <a:p>
            <a:pPr algn="ctr"/>
            <a:r>
              <a:rPr lang="zh-CN" altLang="en-US" sz="1200">
                <a:solidFill>
                  <a:srgbClr val="1A1A19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始终允许</a:t>
            </a:r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0622ABC2-678A-45A9-7DBD-927CA4AC54C3}"/>
              </a:ext>
            </a:extLst>
          </p:cNvPr>
          <p:cNvSpPr/>
          <p:nvPr/>
        </p:nvSpPr>
        <p:spPr>
          <a:xfrm>
            <a:off x="9702800" y="4724400"/>
            <a:ext cx="1473200" cy="4318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E4E4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12700" rIns="50800" bIns="12700" rtlCol="0" anchor="ctr"/>
          <a:lstStyle/>
          <a:p>
            <a:pPr algn="ctr"/>
            <a:r>
              <a:rPr lang="zh-CN" altLang="en-US" sz="1200">
                <a:solidFill>
                  <a:srgbClr val="DC2626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拒绝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1C81E360-51C1-077F-A934-888B40101A66}"/>
              </a:ext>
            </a:extLst>
          </p:cNvPr>
          <p:cNvSpPr txBox="1"/>
          <p:nvPr/>
        </p:nvSpPr>
        <p:spPr>
          <a:xfrm>
            <a:off x="8128000" y="5384800"/>
            <a:ext cx="3048000" cy="406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zh-CN" altLang="en-US" sz="1100">
                <a:solidFill>
                  <a:srgbClr val="70706B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待审批请求按会话排队，切换会话也不会丢失。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94C22BF5-112F-65C9-2CC3-F51DC758FCE8}"/>
              </a:ext>
            </a:extLst>
          </p:cNvPr>
          <p:cNvSpPr txBox="1"/>
          <p:nvPr/>
        </p:nvSpPr>
        <p:spPr>
          <a:xfrm>
            <a:off x="762000" y="6451600"/>
            <a:ext cx="5080000" cy="177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n-US" altLang="zh-CN" sz="900">
                <a:solidFill>
                  <a:srgbClr val="70706B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MarioCode · v0.2.45</a:t>
            </a:r>
            <a:endParaRPr lang="zh-CN" altLang="en-US" sz="900">
              <a:solidFill>
                <a:srgbClr val="70706B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092ACB9D-098D-E0D9-AE27-2FB4D19117C4}"/>
              </a:ext>
            </a:extLst>
          </p:cNvPr>
          <p:cNvSpPr txBox="1"/>
          <p:nvPr/>
        </p:nvSpPr>
        <p:spPr>
          <a:xfrm>
            <a:off x="10160000" y="6451600"/>
            <a:ext cx="1270000" cy="177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>
              <a:lnSpc>
                <a:spcPct val="115000"/>
              </a:lnSpc>
            </a:pPr>
            <a:r>
              <a:rPr lang="en-US" altLang="zh-CN" sz="900">
                <a:solidFill>
                  <a:srgbClr val="70706B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04</a:t>
            </a:r>
            <a:endParaRPr lang="zh-CN" altLang="en-US" sz="900">
              <a:solidFill>
                <a:srgbClr val="70706B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60845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2E31436F-F4BB-F960-168A-3DB191F4625A}"/>
              </a:ext>
            </a:extLst>
          </p:cNvPr>
          <p:cNvSpPr txBox="1"/>
          <p:nvPr/>
        </p:nvSpPr>
        <p:spPr>
          <a:xfrm>
            <a:off x="762000" y="482600"/>
            <a:ext cx="7620000" cy="203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n-US" altLang="zh-CN" sz="1100" b="1">
                <a:solidFill>
                  <a:srgbClr val="2C7053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04 · </a:t>
            </a:r>
            <a:r>
              <a:rPr lang="zh-CN" altLang="en-US" sz="1100" b="1">
                <a:solidFill>
                  <a:srgbClr val="2C7053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工作区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7EF06C6-68C3-8D03-2F9B-CDAC6D106F85}"/>
              </a:ext>
            </a:extLst>
          </p:cNvPr>
          <p:cNvSpPr txBox="1"/>
          <p:nvPr/>
        </p:nvSpPr>
        <p:spPr>
          <a:xfrm>
            <a:off x="762000" y="736600"/>
            <a:ext cx="10668000" cy="558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zh-CN" altLang="en-US" sz="3000" b="1">
                <a:solidFill>
                  <a:srgbClr val="1A1A19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一个窗口里的完整开发环境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2D0FE9A-6474-AE7F-6061-0BFD12F52AEB}"/>
              </a:ext>
            </a:extLst>
          </p:cNvPr>
          <p:cNvSpPr txBox="1"/>
          <p:nvPr/>
        </p:nvSpPr>
        <p:spPr>
          <a:xfrm>
            <a:off x="762000" y="1320800"/>
            <a:ext cx="106680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zh-CN" altLang="en-US" sz="1400">
                <a:solidFill>
                  <a:srgbClr val="52524E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不用在编辑器、终端和 </a:t>
            </a:r>
            <a:r>
              <a:rPr lang="en-US" altLang="zh-CN" sz="1400">
                <a:solidFill>
                  <a:srgbClr val="52524E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Git </a:t>
            </a:r>
            <a:r>
              <a:rPr lang="zh-CN" altLang="en-US" sz="1400">
                <a:solidFill>
                  <a:srgbClr val="52524E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工具之间来回切换。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99CA2764-56A4-1F2A-F5E1-0181840EF698}"/>
              </a:ext>
            </a:extLst>
          </p:cNvPr>
          <p:cNvSpPr/>
          <p:nvPr/>
        </p:nvSpPr>
        <p:spPr>
          <a:xfrm>
            <a:off x="762000" y="1905000"/>
            <a:ext cx="5588000" cy="40132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E4E4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0EDA88C-F63F-0E19-AC7C-99BFA1A49C13}"/>
              </a:ext>
            </a:extLst>
          </p:cNvPr>
          <p:cNvSpPr/>
          <p:nvPr/>
        </p:nvSpPr>
        <p:spPr>
          <a:xfrm>
            <a:off x="762000" y="1905000"/>
            <a:ext cx="5588000" cy="279400"/>
          </a:xfrm>
          <a:prstGeom prst="rect">
            <a:avLst/>
          </a:prstGeom>
          <a:solidFill>
            <a:srgbClr val="F6F6F5"/>
          </a:solidFill>
          <a:ln w="9525">
            <a:solidFill>
              <a:srgbClr val="E4E4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5908648-A959-3C16-BC59-A0BD268D5DAA}"/>
              </a:ext>
            </a:extLst>
          </p:cNvPr>
          <p:cNvSpPr/>
          <p:nvPr/>
        </p:nvSpPr>
        <p:spPr>
          <a:xfrm>
            <a:off x="762000" y="2184400"/>
            <a:ext cx="1270000" cy="3733800"/>
          </a:xfrm>
          <a:prstGeom prst="rect">
            <a:avLst/>
          </a:prstGeom>
          <a:solidFill>
            <a:srgbClr val="F6F6F5"/>
          </a:solidFill>
          <a:ln w="9525">
            <a:solidFill>
              <a:srgbClr val="E4E4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D6A4A46-49FF-6C79-0B4F-9F94486225AD}"/>
              </a:ext>
            </a:extLst>
          </p:cNvPr>
          <p:cNvSpPr/>
          <p:nvPr/>
        </p:nvSpPr>
        <p:spPr>
          <a:xfrm>
            <a:off x="2032000" y="2184400"/>
            <a:ext cx="2413000" cy="2667000"/>
          </a:xfrm>
          <a:prstGeom prst="rect">
            <a:avLst/>
          </a:prstGeom>
          <a:solidFill>
            <a:srgbClr val="FFFFFF"/>
          </a:solidFill>
          <a:ln w="9525">
            <a:solidFill>
              <a:srgbClr val="E4E4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F33986A-3EE4-651E-78A8-0866C4C24C26}"/>
              </a:ext>
            </a:extLst>
          </p:cNvPr>
          <p:cNvSpPr/>
          <p:nvPr/>
        </p:nvSpPr>
        <p:spPr>
          <a:xfrm>
            <a:off x="4445000" y="2184400"/>
            <a:ext cx="1905000" cy="2667000"/>
          </a:xfrm>
          <a:prstGeom prst="rect">
            <a:avLst/>
          </a:prstGeom>
          <a:solidFill>
            <a:srgbClr val="FFFFFF"/>
          </a:solidFill>
          <a:ln w="9525">
            <a:solidFill>
              <a:srgbClr val="E4E4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A008698-3AC6-941B-9F65-67FAFA721721}"/>
              </a:ext>
            </a:extLst>
          </p:cNvPr>
          <p:cNvSpPr/>
          <p:nvPr/>
        </p:nvSpPr>
        <p:spPr>
          <a:xfrm>
            <a:off x="2032000" y="4851400"/>
            <a:ext cx="4318000" cy="1066800"/>
          </a:xfrm>
          <a:prstGeom prst="rect">
            <a:avLst/>
          </a:prstGeom>
          <a:solidFill>
            <a:srgbClr val="181918"/>
          </a:solidFill>
          <a:ln w="9525">
            <a:solidFill>
              <a:srgbClr val="E4E4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8A4E49A-3257-7B04-9413-DDDD7550EB39}"/>
              </a:ext>
            </a:extLst>
          </p:cNvPr>
          <p:cNvSpPr txBox="1"/>
          <p:nvPr/>
        </p:nvSpPr>
        <p:spPr>
          <a:xfrm>
            <a:off x="889000" y="2311400"/>
            <a:ext cx="1016000" cy="177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zh-CN" altLang="en-US" sz="1000">
                <a:solidFill>
                  <a:srgbClr val="70706B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项目 </a:t>
            </a:r>
            <a:r>
              <a:rPr lang="en-US" altLang="zh-CN" sz="1000">
                <a:solidFill>
                  <a:srgbClr val="70706B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/ </a:t>
            </a:r>
            <a:r>
              <a:rPr lang="zh-CN" altLang="en-US" sz="1000">
                <a:solidFill>
                  <a:srgbClr val="70706B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会话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BBE46C23-68A1-F0B5-DF38-C8EA027E3246}"/>
              </a:ext>
            </a:extLst>
          </p:cNvPr>
          <p:cNvSpPr txBox="1"/>
          <p:nvPr/>
        </p:nvSpPr>
        <p:spPr>
          <a:xfrm>
            <a:off x="2159000" y="2311400"/>
            <a:ext cx="1270000" cy="177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zh-CN" altLang="en-US" sz="1000">
                <a:solidFill>
                  <a:srgbClr val="70706B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对话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9CFE946-76D0-E165-F325-E11B67C6DFB9}"/>
              </a:ext>
            </a:extLst>
          </p:cNvPr>
          <p:cNvSpPr txBox="1"/>
          <p:nvPr/>
        </p:nvSpPr>
        <p:spPr>
          <a:xfrm>
            <a:off x="4572000" y="2311400"/>
            <a:ext cx="1651000" cy="177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zh-CN" altLang="en-US" sz="1000">
                <a:solidFill>
                  <a:srgbClr val="70706B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文件 </a:t>
            </a:r>
            <a:r>
              <a:rPr lang="en-US" altLang="zh-CN" sz="1000">
                <a:solidFill>
                  <a:srgbClr val="70706B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· </a:t>
            </a:r>
            <a:r>
              <a:rPr lang="zh-CN" altLang="en-US" sz="1000">
                <a:solidFill>
                  <a:srgbClr val="70706B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编辑器 </a:t>
            </a:r>
            <a:r>
              <a:rPr lang="en-US" altLang="zh-CN" sz="1000">
                <a:solidFill>
                  <a:srgbClr val="70706B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· Git</a:t>
            </a:r>
            <a:endParaRPr lang="zh-CN" altLang="en-US" sz="1000">
              <a:solidFill>
                <a:srgbClr val="70706B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8ED25F18-4991-EF73-134F-0CFB0A8AC8B5}"/>
              </a:ext>
            </a:extLst>
          </p:cNvPr>
          <p:cNvSpPr txBox="1"/>
          <p:nvPr/>
        </p:nvSpPr>
        <p:spPr>
          <a:xfrm>
            <a:off x="2159000" y="4978400"/>
            <a:ext cx="1270000" cy="177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zh-CN" altLang="en-US" sz="1000" b="1">
                <a:solidFill>
                  <a:srgbClr val="8BC0A3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终端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34C6CDEF-B9C1-AC8B-CA32-5F5F9182F7CB}"/>
              </a:ext>
            </a:extLst>
          </p:cNvPr>
          <p:cNvSpPr/>
          <p:nvPr/>
        </p:nvSpPr>
        <p:spPr>
          <a:xfrm>
            <a:off x="939800" y="2590800"/>
            <a:ext cx="914400" cy="177800"/>
          </a:xfrm>
          <a:prstGeom prst="roundRect">
            <a:avLst>
              <a:gd name="adj" fmla="val 40000"/>
            </a:avLst>
          </a:prstGeom>
          <a:solidFill>
            <a:srgbClr val="E4E4E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19975B88-E3DA-EB20-2B93-E4AD3C1A48E5}"/>
              </a:ext>
            </a:extLst>
          </p:cNvPr>
          <p:cNvSpPr/>
          <p:nvPr/>
        </p:nvSpPr>
        <p:spPr>
          <a:xfrm>
            <a:off x="939800" y="2844800"/>
            <a:ext cx="711200" cy="177800"/>
          </a:xfrm>
          <a:prstGeom prst="roundRect">
            <a:avLst>
              <a:gd name="adj" fmla="val 40000"/>
            </a:avLst>
          </a:prstGeom>
          <a:solidFill>
            <a:srgbClr val="E2F0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BDEACF37-9ABB-E120-46C4-9474EFFC8137}"/>
              </a:ext>
            </a:extLst>
          </p:cNvPr>
          <p:cNvSpPr/>
          <p:nvPr/>
        </p:nvSpPr>
        <p:spPr>
          <a:xfrm>
            <a:off x="939800" y="3098800"/>
            <a:ext cx="838200" cy="177800"/>
          </a:xfrm>
          <a:prstGeom prst="roundRect">
            <a:avLst>
              <a:gd name="adj" fmla="val 40000"/>
            </a:avLst>
          </a:prstGeom>
          <a:solidFill>
            <a:srgbClr val="E4E4E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16866AE6-1158-4BFA-D2D0-53900631E5C3}"/>
              </a:ext>
            </a:extLst>
          </p:cNvPr>
          <p:cNvSpPr/>
          <p:nvPr/>
        </p:nvSpPr>
        <p:spPr>
          <a:xfrm>
            <a:off x="2209800" y="2616200"/>
            <a:ext cx="1397000" cy="177800"/>
          </a:xfrm>
          <a:prstGeom prst="roundRect">
            <a:avLst>
              <a:gd name="adj" fmla="val 40000"/>
            </a:avLst>
          </a:prstGeom>
          <a:solidFill>
            <a:srgbClr val="E4E4E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709112CD-6B75-F518-67D4-2DF7BF4DD234}"/>
              </a:ext>
            </a:extLst>
          </p:cNvPr>
          <p:cNvSpPr/>
          <p:nvPr/>
        </p:nvSpPr>
        <p:spPr>
          <a:xfrm>
            <a:off x="2209800" y="2946400"/>
            <a:ext cx="2032000" cy="508000"/>
          </a:xfrm>
          <a:prstGeom prst="roundRect">
            <a:avLst>
              <a:gd name="adj" fmla="val 10000"/>
            </a:avLst>
          </a:prstGeom>
          <a:solidFill>
            <a:srgbClr val="E2F0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84129CD6-E36C-5EF7-57BB-76D03404C432}"/>
              </a:ext>
            </a:extLst>
          </p:cNvPr>
          <p:cNvSpPr/>
          <p:nvPr/>
        </p:nvSpPr>
        <p:spPr>
          <a:xfrm>
            <a:off x="2209800" y="3632200"/>
            <a:ext cx="1651000" cy="177800"/>
          </a:xfrm>
          <a:prstGeom prst="roundRect">
            <a:avLst>
              <a:gd name="adj" fmla="val 40000"/>
            </a:avLst>
          </a:prstGeom>
          <a:solidFill>
            <a:srgbClr val="E4E4E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E566BB7B-4DFD-74A2-8CAE-E38A5C7CD69D}"/>
              </a:ext>
            </a:extLst>
          </p:cNvPr>
          <p:cNvSpPr/>
          <p:nvPr/>
        </p:nvSpPr>
        <p:spPr>
          <a:xfrm>
            <a:off x="2209800" y="4013200"/>
            <a:ext cx="2032000" cy="508000"/>
          </a:xfrm>
          <a:prstGeom prst="roundRect">
            <a:avLst>
              <a:gd name="adj" fmla="val 10000"/>
            </a:avLst>
          </a:prstGeom>
          <a:solidFill>
            <a:srgbClr val="E2F0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58F9EDF3-747C-C3BF-D2AC-2F19FFE0C523}"/>
              </a:ext>
            </a:extLst>
          </p:cNvPr>
          <p:cNvSpPr/>
          <p:nvPr/>
        </p:nvSpPr>
        <p:spPr>
          <a:xfrm>
            <a:off x="4622800" y="2616200"/>
            <a:ext cx="1549400" cy="177800"/>
          </a:xfrm>
          <a:prstGeom prst="roundRect">
            <a:avLst>
              <a:gd name="adj" fmla="val 40000"/>
            </a:avLst>
          </a:prstGeom>
          <a:solidFill>
            <a:srgbClr val="E4E4E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602E11CC-F8F6-B9B7-D11D-C937F226626F}"/>
              </a:ext>
            </a:extLst>
          </p:cNvPr>
          <p:cNvSpPr/>
          <p:nvPr/>
        </p:nvSpPr>
        <p:spPr>
          <a:xfrm>
            <a:off x="4622800" y="2946400"/>
            <a:ext cx="1549400" cy="1219200"/>
          </a:xfrm>
          <a:prstGeom prst="roundRect">
            <a:avLst>
              <a:gd name="adj" fmla="val 6000"/>
            </a:avLst>
          </a:prstGeom>
          <a:solidFill>
            <a:srgbClr val="F6F6F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6C176BA7-F32E-D735-BB16-B2467617744C}"/>
              </a:ext>
            </a:extLst>
          </p:cNvPr>
          <p:cNvSpPr txBox="1"/>
          <p:nvPr/>
        </p:nvSpPr>
        <p:spPr>
          <a:xfrm>
            <a:off x="2235200" y="5257800"/>
            <a:ext cx="1905000" cy="177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n-US" altLang="zh-CN" sz="1000">
                <a:solidFill>
                  <a:srgbClr val="8BC0A3"/>
                </a:solidFill>
                <a:latin typeface="Consolas" panose="020B0609020204030204" pitchFamily="49" charset="0"/>
              </a:rPr>
              <a:t>$ pnpm dev</a:t>
            </a:r>
            <a:endParaRPr lang="zh-CN" altLang="en-US" sz="1000">
              <a:solidFill>
                <a:srgbClr val="8BC0A3"/>
              </a:solidFill>
              <a:latin typeface="Consolas" panose="020B0609020204030204" pitchFamily="49" charset="0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0A2B9A48-144B-4559-C3D3-BC0A9A6DEA54}"/>
              </a:ext>
            </a:extLst>
          </p:cNvPr>
          <p:cNvSpPr/>
          <p:nvPr/>
        </p:nvSpPr>
        <p:spPr>
          <a:xfrm>
            <a:off x="6858000" y="1930400"/>
            <a:ext cx="50800" cy="762000"/>
          </a:xfrm>
          <a:prstGeom prst="rect">
            <a:avLst/>
          </a:prstGeom>
          <a:solidFill>
            <a:srgbClr val="5CA08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AA3D577D-803C-88A8-80F4-C775CB2A3097}"/>
              </a:ext>
            </a:extLst>
          </p:cNvPr>
          <p:cNvSpPr txBox="1"/>
          <p:nvPr/>
        </p:nvSpPr>
        <p:spPr>
          <a:xfrm>
            <a:off x="7086600" y="1905000"/>
            <a:ext cx="43434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zh-CN" altLang="en-US" sz="1500" b="1">
                <a:solidFill>
                  <a:srgbClr val="1A1A19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左 </a:t>
            </a:r>
            <a:r>
              <a:rPr lang="en-US" altLang="zh-CN" sz="1500" b="1">
                <a:solidFill>
                  <a:srgbClr val="1A1A19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· </a:t>
            </a:r>
            <a:r>
              <a:rPr lang="zh-CN" altLang="en-US" sz="1500" b="1">
                <a:solidFill>
                  <a:srgbClr val="1A1A19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项目与会话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493627C9-793D-947C-8E05-E2C6AE5CEA9F}"/>
              </a:ext>
            </a:extLst>
          </p:cNvPr>
          <p:cNvSpPr txBox="1"/>
          <p:nvPr/>
        </p:nvSpPr>
        <p:spPr>
          <a:xfrm>
            <a:off x="7086600" y="2235200"/>
            <a:ext cx="4343400" cy="508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zh-CN" altLang="en-US" sz="1200">
                <a:solidFill>
                  <a:srgbClr val="52524E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多项目管理、分组与置顶；会话随时恢复；用 </a:t>
            </a:r>
            <a:r>
              <a:rPr lang="en-US" altLang="zh-CN" sz="1200">
                <a:solidFill>
                  <a:srgbClr val="52524E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Git worktree </a:t>
            </a:r>
            <a:r>
              <a:rPr lang="zh-CN" altLang="en-US" sz="1200">
                <a:solidFill>
                  <a:srgbClr val="52524E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并行跑多个会话。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0D8C46AE-D854-499F-A4AF-FFC61D66EE2D}"/>
              </a:ext>
            </a:extLst>
          </p:cNvPr>
          <p:cNvSpPr/>
          <p:nvPr/>
        </p:nvSpPr>
        <p:spPr>
          <a:xfrm>
            <a:off x="6858000" y="2946400"/>
            <a:ext cx="50800" cy="762000"/>
          </a:xfrm>
          <a:prstGeom prst="rect">
            <a:avLst/>
          </a:prstGeom>
          <a:solidFill>
            <a:srgbClr val="5CA08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3EB63CD1-D0BA-C8EA-9A52-CF8E1EDAAB8B}"/>
              </a:ext>
            </a:extLst>
          </p:cNvPr>
          <p:cNvSpPr txBox="1"/>
          <p:nvPr/>
        </p:nvSpPr>
        <p:spPr>
          <a:xfrm>
            <a:off x="7086600" y="2921000"/>
            <a:ext cx="43434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zh-CN" altLang="en-US" sz="1500" b="1">
                <a:solidFill>
                  <a:srgbClr val="1A1A19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中 </a:t>
            </a:r>
            <a:r>
              <a:rPr lang="en-US" altLang="zh-CN" sz="1500" b="1">
                <a:solidFill>
                  <a:srgbClr val="1A1A19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· </a:t>
            </a:r>
            <a:r>
              <a:rPr lang="zh-CN" altLang="en-US" sz="1500" b="1">
                <a:solidFill>
                  <a:srgbClr val="1A1A19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对话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5592403B-52A1-5216-E369-C94043E4538A}"/>
              </a:ext>
            </a:extLst>
          </p:cNvPr>
          <p:cNvSpPr txBox="1"/>
          <p:nvPr/>
        </p:nvSpPr>
        <p:spPr>
          <a:xfrm>
            <a:off x="7086600" y="3251200"/>
            <a:ext cx="4343400" cy="508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zh-CN" altLang="en-US" sz="1200">
                <a:solidFill>
                  <a:srgbClr val="52524E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流式回复、工具卡片、审批与计划模式都在这一栏。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47701B3E-EDD8-3413-AC2E-52C82F5E623B}"/>
              </a:ext>
            </a:extLst>
          </p:cNvPr>
          <p:cNvSpPr/>
          <p:nvPr/>
        </p:nvSpPr>
        <p:spPr>
          <a:xfrm>
            <a:off x="6858000" y="3962400"/>
            <a:ext cx="50800" cy="762000"/>
          </a:xfrm>
          <a:prstGeom prst="rect">
            <a:avLst/>
          </a:prstGeom>
          <a:solidFill>
            <a:srgbClr val="5CA08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602DEBDB-3DB6-CA1A-3B0C-E76DFF45ADC5}"/>
              </a:ext>
            </a:extLst>
          </p:cNvPr>
          <p:cNvSpPr txBox="1"/>
          <p:nvPr/>
        </p:nvSpPr>
        <p:spPr>
          <a:xfrm>
            <a:off x="7086600" y="3937000"/>
            <a:ext cx="43434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zh-CN" altLang="en-US" sz="1500" b="1">
                <a:solidFill>
                  <a:srgbClr val="1A1A19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右 </a:t>
            </a:r>
            <a:r>
              <a:rPr lang="en-US" altLang="zh-CN" sz="1500" b="1">
                <a:solidFill>
                  <a:srgbClr val="1A1A19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· </a:t>
            </a:r>
            <a:r>
              <a:rPr lang="zh-CN" altLang="en-US" sz="1500" b="1">
                <a:solidFill>
                  <a:srgbClr val="1A1A19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文件与 </a:t>
            </a:r>
            <a:r>
              <a:rPr lang="en-US" altLang="zh-CN" sz="1500" b="1">
                <a:solidFill>
                  <a:srgbClr val="1A1A19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Git</a:t>
            </a:r>
            <a:endParaRPr lang="zh-CN" altLang="en-US" sz="1500" b="1">
              <a:solidFill>
                <a:srgbClr val="1A1A19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1D02F2AA-94F8-6B8D-3524-32D127291810}"/>
              </a:ext>
            </a:extLst>
          </p:cNvPr>
          <p:cNvSpPr txBox="1"/>
          <p:nvPr/>
        </p:nvSpPr>
        <p:spPr>
          <a:xfrm>
            <a:off x="7086600" y="4267200"/>
            <a:ext cx="4343400" cy="508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n-US" altLang="zh-CN" sz="1200">
                <a:solidFill>
                  <a:srgbClr val="52524E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Monaco </a:t>
            </a:r>
            <a:r>
              <a:rPr lang="zh-CN" altLang="en-US" sz="1200">
                <a:solidFill>
                  <a:srgbClr val="52524E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编辑器（编辑 </a:t>
            </a:r>
            <a:r>
              <a:rPr lang="en-US" altLang="zh-CN" sz="1200">
                <a:solidFill>
                  <a:srgbClr val="52524E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/ </a:t>
            </a:r>
            <a:r>
              <a:rPr lang="zh-CN" altLang="en-US" sz="1200">
                <a:solidFill>
                  <a:srgbClr val="52524E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对比 </a:t>
            </a:r>
            <a:r>
              <a:rPr lang="en-US" altLang="zh-CN" sz="1200">
                <a:solidFill>
                  <a:srgbClr val="52524E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/ </a:t>
            </a:r>
            <a:r>
              <a:rPr lang="zh-CN" altLang="en-US" sz="1200">
                <a:solidFill>
                  <a:srgbClr val="52524E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预览），多仓库 </a:t>
            </a:r>
            <a:r>
              <a:rPr lang="en-US" altLang="zh-CN" sz="1200">
                <a:solidFill>
                  <a:srgbClr val="52524E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Git</a:t>
            </a:r>
            <a:r>
              <a:rPr lang="zh-CN" altLang="en-US" sz="1200">
                <a:solidFill>
                  <a:srgbClr val="52524E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，</a:t>
            </a:r>
            <a:r>
              <a:rPr lang="en-US" altLang="zh-CN" sz="1200">
                <a:solidFill>
                  <a:srgbClr val="52524E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AI </a:t>
            </a:r>
            <a:r>
              <a:rPr lang="zh-CN" altLang="en-US" sz="1200">
                <a:solidFill>
                  <a:srgbClr val="52524E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生成提交信息。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5A2B7EF1-0BCD-1397-DB0D-9460C0A907C8}"/>
              </a:ext>
            </a:extLst>
          </p:cNvPr>
          <p:cNvSpPr/>
          <p:nvPr/>
        </p:nvSpPr>
        <p:spPr>
          <a:xfrm>
            <a:off x="6858000" y="4978400"/>
            <a:ext cx="50800" cy="762000"/>
          </a:xfrm>
          <a:prstGeom prst="rect">
            <a:avLst/>
          </a:prstGeom>
          <a:solidFill>
            <a:srgbClr val="5CA08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B415870A-42D0-70FE-0A95-093E248604D8}"/>
              </a:ext>
            </a:extLst>
          </p:cNvPr>
          <p:cNvSpPr txBox="1"/>
          <p:nvPr/>
        </p:nvSpPr>
        <p:spPr>
          <a:xfrm>
            <a:off x="7086600" y="4953000"/>
            <a:ext cx="43434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zh-CN" altLang="en-US" sz="1500" b="1">
                <a:solidFill>
                  <a:srgbClr val="1A1A19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下 </a:t>
            </a:r>
            <a:r>
              <a:rPr lang="en-US" altLang="zh-CN" sz="1500" b="1">
                <a:solidFill>
                  <a:srgbClr val="1A1A19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· </a:t>
            </a:r>
            <a:r>
              <a:rPr lang="zh-CN" altLang="en-US" sz="1500" b="1">
                <a:solidFill>
                  <a:srgbClr val="1A1A19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终端</a:t>
            </a: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47D6AE72-3264-0FF5-F4B4-AA1DF4DD2EBE}"/>
              </a:ext>
            </a:extLst>
          </p:cNvPr>
          <p:cNvSpPr txBox="1"/>
          <p:nvPr/>
        </p:nvSpPr>
        <p:spPr>
          <a:xfrm>
            <a:off x="7086600" y="5283200"/>
            <a:ext cx="4343400" cy="508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zh-CN" altLang="en-US" sz="1200">
                <a:solidFill>
                  <a:srgbClr val="52524E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多标签终端（</a:t>
            </a:r>
            <a:r>
              <a:rPr lang="en-US" altLang="zh-CN" sz="1200">
                <a:solidFill>
                  <a:srgbClr val="52524E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xterm.js + node-pty</a:t>
            </a:r>
            <a:r>
              <a:rPr lang="zh-CN" altLang="en-US" sz="1200">
                <a:solidFill>
                  <a:srgbClr val="52524E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），切换项目不会中断后台任务。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6DEA59BE-B577-5D73-04B8-0D6095B59937}"/>
              </a:ext>
            </a:extLst>
          </p:cNvPr>
          <p:cNvSpPr txBox="1"/>
          <p:nvPr/>
        </p:nvSpPr>
        <p:spPr>
          <a:xfrm>
            <a:off x="762000" y="6451600"/>
            <a:ext cx="5080000" cy="177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n-US" altLang="zh-CN" sz="900">
                <a:solidFill>
                  <a:srgbClr val="70706B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MarioCode · v0.2.45</a:t>
            </a:r>
            <a:endParaRPr lang="zh-CN" altLang="en-US" sz="900">
              <a:solidFill>
                <a:srgbClr val="70706B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A94D98FE-FF6D-7909-E821-1DBCDD5187C8}"/>
              </a:ext>
            </a:extLst>
          </p:cNvPr>
          <p:cNvSpPr txBox="1"/>
          <p:nvPr/>
        </p:nvSpPr>
        <p:spPr>
          <a:xfrm>
            <a:off x="10160000" y="6451600"/>
            <a:ext cx="1270000" cy="177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>
              <a:lnSpc>
                <a:spcPct val="115000"/>
              </a:lnSpc>
            </a:pPr>
            <a:r>
              <a:rPr lang="en-US" altLang="zh-CN" sz="900">
                <a:solidFill>
                  <a:srgbClr val="70706B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05</a:t>
            </a:r>
            <a:endParaRPr lang="zh-CN" altLang="en-US" sz="900">
              <a:solidFill>
                <a:srgbClr val="70706B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316949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A4E0A6F8-4868-2993-E2A7-9FF94978552C}"/>
              </a:ext>
            </a:extLst>
          </p:cNvPr>
          <p:cNvSpPr txBox="1"/>
          <p:nvPr/>
        </p:nvSpPr>
        <p:spPr>
          <a:xfrm>
            <a:off x="762000" y="482600"/>
            <a:ext cx="7620000" cy="203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n-US" altLang="zh-CN" sz="1100" b="1">
                <a:solidFill>
                  <a:srgbClr val="2C7053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05 · </a:t>
            </a:r>
            <a:r>
              <a:rPr lang="zh-CN" altLang="en-US" sz="1100" b="1">
                <a:solidFill>
                  <a:srgbClr val="2C7053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浏览器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0FFACEE-0FC9-B5AB-9F8A-AEABDB7D2050}"/>
              </a:ext>
            </a:extLst>
          </p:cNvPr>
          <p:cNvSpPr txBox="1"/>
          <p:nvPr/>
        </p:nvSpPr>
        <p:spPr>
          <a:xfrm>
            <a:off x="762000" y="736600"/>
            <a:ext cx="10668000" cy="558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zh-CN" altLang="en-US" sz="3000" b="1">
                <a:solidFill>
                  <a:srgbClr val="1A1A19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内置浏览器：你能用，</a:t>
            </a:r>
            <a:r>
              <a:rPr lang="en-US" altLang="zh-CN" sz="3000" b="1">
                <a:solidFill>
                  <a:srgbClr val="1A1A19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Agent </a:t>
            </a:r>
            <a:r>
              <a:rPr lang="zh-CN" altLang="en-US" sz="3000" b="1">
                <a:solidFill>
                  <a:srgbClr val="1A1A19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也能用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866C8D7-56B3-667A-C6CA-BEF654A4419B}"/>
              </a:ext>
            </a:extLst>
          </p:cNvPr>
          <p:cNvSpPr txBox="1"/>
          <p:nvPr/>
        </p:nvSpPr>
        <p:spPr>
          <a:xfrm>
            <a:off x="762000" y="1320800"/>
            <a:ext cx="106680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zh-CN" altLang="en-US" sz="1400">
                <a:solidFill>
                  <a:srgbClr val="52524E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同一个窗口里看网页、选元素，也让 </a:t>
            </a:r>
            <a:r>
              <a:rPr lang="en-US" altLang="zh-CN" sz="1400">
                <a:solidFill>
                  <a:srgbClr val="52524E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Agent </a:t>
            </a:r>
            <a:r>
              <a:rPr lang="zh-CN" altLang="en-US" sz="1400">
                <a:solidFill>
                  <a:srgbClr val="52524E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操作页面。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D5300863-93AB-44A5-E8DB-9A47E6DA9192}"/>
              </a:ext>
            </a:extLst>
          </p:cNvPr>
          <p:cNvSpPr/>
          <p:nvPr/>
        </p:nvSpPr>
        <p:spPr>
          <a:xfrm>
            <a:off x="762000" y="1905000"/>
            <a:ext cx="5207000" cy="2768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4E4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A981C8D-CAD5-FDBB-67F9-B5E7E548320F}"/>
              </a:ext>
            </a:extLst>
          </p:cNvPr>
          <p:cNvSpPr/>
          <p:nvPr/>
        </p:nvSpPr>
        <p:spPr>
          <a:xfrm>
            <a:off x="6223000" y="1905000"/>
            <a:ext cx="5207000" cy="2768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4E4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70254E9-00D9-7DB4-2B81-8C5DF34DC6C2}"/>
              </a:ext>
            </a:extLst>
          </p:cNvPr>
          <p:cNvSpPr txBox="1"/>
          <p:nvPr/>
        </p:nvSpPr>
        <p:spPr>
          <a:xfrm>
            <a:off x="1041400" y="2133600"/>
            <a:ext cx="46482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zh-CN" altLang="en-US" sz="1600" b="1">
                <a:solidFill>
                  <a:srgbClr val="2C7053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你可以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4DCA038-61EF-07B0-32A5-ABE49D107337}"/>
              </a:ext>
            </a:extLst>
          </p:cNvPr>
          <p:cNvSpPr txBox="1"/>
          <p:nvPr/>
        </p:nvSpPr>
        <p:spPr>
          <a:xfrm>
            <a:off x="1041400" y="2565400"/>
            <a:ext cx="4648200" cy="1981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  <a:spcAft>
                <a:spcPts val="900"/>
              </a:spcAft>
            </a:pPr>
            <a:r>
              <a:rPr lang="zh-CN" altLang="en-US" sz="1300">
                <a:solidFill>
                  <a:srgbClr val="52524E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多标签页，登录状态跨重启保留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lang="zh-CN" altLang="en-US" sz="1300">
                <a:solidFill>
                  <a:srgbClr val="52524E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书签、历史、下载与隐私清理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lang="zh-CN" altLang="en-US" sz="1300">
                <a:solidFill>
                  <a:srgbClr val="52524E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桌面 </a:t>
            </a:r>
            <a:r>
              <a:rPr lang="en-US" altLang="zh-CN" sz="1300">
                <a:solidFill>
                  <a:srgbClr val="52524E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/ iPhone / Android </a:t>
            </a:r>
            <a:r>
              <a:rPr lang="zh-CN" altLang="en-US" sz="1300">
                <a:solidFill>
                  <a:srgbClr val="52524E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预设，带视口与触摸模拟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lang="zh-CN" altLang="en-US" sz="1300">
                <a:solidFill>
                  <a:srgbClr val="52524E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元素拾取：点选页面元素，把 </a:t>
            </a:r>
            <a:r>
              <a:rPr lang="en-US" altLang="zh-CN" sz="1300">
                <a:solidFill>
                  <a:srgbClr val="52524E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HTML </a:t>
            </a:r>
            <a:r>
              <a:rPr lang="zh-CN" altLang="en-US" sz="1300">
                <a:solidFill>
                  <a:srgbClr val="52524E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与选择器发进对话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32A7601-66AC-9996-E311-3B549AFD389D}"/>
              </a:ext>
            </a:extLst>
          </p:cNvPr>
          <p:cNvSpPr txBox="1"/>
          <p:nvPr/>
        </p:nvSpPr>
        <p:spPr>
          <a:xfrm>
            <a:off x="6502400" y="2133600"/>
            <a:ext cx="46482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n-US" altLang="zh-CN" sz="1600" b="1">
                <a:solidFill>
                  <a:srgbClr val="2C7053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Agent </a:t>
            </a:r>
            <a:r>
              <a:rPr lang="zh-CN" altLang="en-US" sz="1600" b="1">
                <a:solidFill>
                  <a:srgbClr val="2C7053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可以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046AE9D-B884-00B6-F888-73551798CDAC}"/>
              </a:ext>
            </a:extLst>
          </p:cNvPr>
          <p:cNvSpPr txBox="1"/>
          <p:nvPr/>
        </p:nvSpPr>
        <p:spPr>
          <a:xfrm>
            <a:off x="6502400" y="2565400"/>
            <a:ext cx="4648200" cy="1981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  <a:spcAft>
                <a:spcPts val="900"/>
              </a:spcAft>
            </a:pPr>
            <a:r>
              <a:rPr lang="zh-CN" altLang="en-US" sz="1300">
                <a:solidFill>
                  <a:srgbClr val="52524E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导航、页面快照、点击、输入、滚动、截图（真实输入事件）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lang="zh-CN" altLang="en-US" sz="1300">
                <a:solidFill>
                  <a:srgbClr val="52524E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每个会话使用独立的浏览器视图，互不干扰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lang="zh-CN" altLang="en-US" sz="1300">
                <a:solidFill>
                  <a:srgbClr val="52524E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空闲视图自动回收，单个会话最多同时保留 </a:t>
            </a:r>
            <a:r>
              <a:rPr lang="en-US" altLang="zh-CN" sz="1300">
                <a:solidFill>
                  <a:srgbClr val="52524E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3 </a:t>
            </a:r>
            <a:r>
              <a:rPr lang="zh-CN" altLang="en-US" sz="1300">
                <a:solidFill>
                  <a:srgbClr val="52524E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个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lang="zh-CN" altLang="en-US" sz="1300">
                <a:solidFill>
                  <a:srgbClr val="52524E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遇到登录或验证码，可以把页面交给你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3BB9831-6171-B357-657F-85EF686685F8}"/>
              </a:ext>
            </a:extLst>
          </p:cNvPr>
          <p:cNvSpPr txBox="1"/>
          <p:nvPr/>
        </p:nvSpPr>
        <p:spPr>
          <a:xfrm>
            <a:off x="762000" y="4978400"/>
            <a:ext cx="5080000" cy="203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zh-CN" altLang="en-US" sz="1200" b="1">
                <a:solidFill>
                  <a:srgbClr val="1A1A19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接管流程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A549A24C-3691-199A-3AAB-6D44E05613D7}"/>
              </a:ext>
            </a:extLst>
          </p:cNvPr>
          <p:cNvSpPr/>
          <p:nvPr/>
        </p:nvSpPr>
        <p:spPr>
          <a:xfrm>
            <a:off x="762000" y="5308600"/>
            <a:ext cx="1778000" cy="5588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E4E4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12700" rIns="50800" bIns="12700" rtlCol="0" anchor="ctr"/>
          <a:lstStyle/>
          <a:p>
            <a:pPr algn="ctr"/>
            <a:r>
              <a:rPr lang="en-US" altLang="zh-CN" sz="1200" b="1">
                <a:solidFill>
                  <a:srgbClr val="1A1A19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Agent </a:t>
            </a:r>
            <a:r>
              <a:rPr lang="zh-CN" altLang="en-US" sz="1200" b="1">
                <a:solidFill>
                  <a:srgbClr val="1A1A19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操作页面</a:t>
            </a:r>
          </a:p>
        </p:txBody>
      </p: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856A75DC-E952-7AE0-6A75-15DECF2ECE5D}"/>
              </a:ext>
            </a:extLst>
          </p:cNvPr>
          <p:cNvCxnSpPr/>
          <p:nvPr/>
        </p:nvCxnSpPr>
        <p:spPr>
          <a:xfrm>
            <a:off x="2590800" y="5588000"/>
            <a:ext cx="304800" cy="0"/>
          </a:xfrm>
          <a:prstGeom prst="line">
            <a:avLst/>
          </a:prstGeom>
          <a:ln w="15875">
            <a:solidFill>
              <a:srgbClr val="70706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D091EDAA-0CB2-D870-2FF0-F1ED6263FF2B}"/>
              </a:ext>
            </a:extLst>
          </p:cNvPr>
          <p:cNvSpPr/>
          <p:nvPr/>
        </p:nvSpPr>
        <p:spPr>
          <a:xfrm>
            <a:off x="2946400" y="5308600"/>
            <a:ext cx="1778000" cy="5588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E4E4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12700" rIns="50800" bIns="12700" rtlCol="0" anchor="ctr"/>
          <a:lstStyle/>
          <a:p>
            <a:pPr algn="ctr"/>
            <a:r>
              <a:rPr lang="zh-CN" altLang="en-US" sz="1200" b="1">
                <a:solidFill>
                  <a:srgbClr val="1A1A19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遇到登录 </a:t>
            </a:r>
            <a:r>
              <a:rPr lang="en-US" altLang="zh-CN" sz="1200" b="1">
                <a:solidFill>
                  <a:srgbClr val="1A1A19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/ </a:t>
            </a:r>
            <a:r>
              <a:rPr lang="zh-CN" altLang="en-US" sz="1200" b="1">
                <a:solidFill>
                  <a:srgbClr val="1A1A19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验证</a:t>
            </a:r>
          </a:p>
        </p:txBody>
      </p: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B28314BB-722E-94C3-B4F9-7ED6146FDB2D}"/>
              </a:ext>
            </a:extLst>
          </p:cNvPr>
          <p:cNvCxnSpPr/>
          <p:nvPr/>
        </p:nvCxnSpPr>
        <p:spPr>
          <a:xfrm>
            <a:off x="4775200" y="5588000"/>
            <a:ext cx="304800" cy="0"/>
          </a:xfrm>
          <a:prstGeom prst="line">
            <a:avLst/>
          </a:prstGeom>
          <a:ln w="15875">
            <a:solidFill>
              <a:srgbClr val="70706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FE7C5442-A8B7-CE8B-1CAC-DF7C68D0444F}"/>
              </a:ext>
            </a:extLst>
          </p:cNvPr>
          <p:cNvSpPr/>
          <p:nvPr/>
        </p:nvSpPr>
        <p:spPr>
          <a:xfrm>
            <a:off x="5130800" y="5308600"/>
            <a:ext cx="1778000" cy="558800"/>
          </a:xfrm>
          <a:prstGeom prst="roundRect">
            <a:avLst>
              <a:gd name="adj" fmla="val 20000"/>
            </a:avLst>
          </a:prstGeom>
          <a:solidFill>
            <a:srgbClr val="E2F0E8"/>
          </a:solidFill>
          <a:ln w="9525">
            <a:solidFill>
              <a:srgbClr val="E4E4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12700" rIns="50800" bIns="12700" rtlCol="0" anchor="ctr"/>
          <a:lstStyle/>
          <a:p>
            <a:pPr algn="ctr"/>
            <a:r>
              <a:rPr lang="zh-CN" altLang="en-US" sz="1200" b="1">
                <a:solidFill>
                  <a:srgbClr val="2C7053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页面交给你</a:t>
            </a: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FFBC839B-FD36-F72B-F202-F35345AEAA78}"/>
              </a:ext>
            </a:extLst>
          </p:cNvPr>
          <p:cNvCxnSpPr/>
          <p:nvPr/>
        </p:nvCxnSpPr>
        <p:spPr>
          <a:xfrm>
            <a:off x="6959600" y="5588000"/>
            <a:ext cx="304800" cy="0"/>
          </a:xfrm>
          <a:prstGeom prst="line">
            <a:avLst/>
          </a:prstGeom>
          <a:ln w="15875">
            <a:solidFill>
              <a:srgbClr val="70706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529F4F53-BB48-26E5-3C03-EDFB961148E6}"/>
              </a:ext>
            </a:extLst>
          </p:cNvPr>
          <p:cNvSpPr/>
          <p:nvPr/>
        </p:nvSpPr>
        <p:spPr>
          <a:xfrm>
            <a:off x="7315200" y="5308600"/>
            <a:ext cx="1778000" cy="558800"/>
          </a:xfrm>
          <a:prstGeom prst="roundRect">
            <a:avLst>
              <a:gd name="adj" fmla="val 20000"/>
            </a:avLst>
          </a:prstGeom>
          <a:solidFill>
            <a:srgbClr val="E2F0E8"/>
          </a:solidFill>
          <a:ln w="9525">
            <a:solidFill>
              <a:srgbClr val="E4E4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12700" rIns="50800" bIns="12700" rtlCol="0" anchor="ctr"/>
          <a:lstStyle/>
          <a:p>
            <a:pPr algn="ctr"/>
            <a:r>
              <a:rPr lang="zh-CN" altLang="en-US" sz="1200" b="1">
                <a:solidFill>
                  <a:srgbClr val="2C7053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你完成操作</a:t>
            </a:r>
          </a:p>
        </p:txBody>
      </p: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99A1AADE-2993-2C9E-FE79-91D80631CB22}"/>
              </a:ext>
            </a:extLst>
          </p:cNvPr>
          <p:cNvCxnSpPr/>
          <p:nvPr/>
        </p:nvCxnSpPr>
        <p:spPr>
          <a:xfrm>
            <a:off x="9144000" y="5588000"/>
            <a:ext cx="304800" cy="0"/>
          </a:xfrm>
          <a:prstGeom prst="line">
            <a:avLst/>
          </a:prstGeom>
          <a:ln w="15875">
            <a:solidFill>
              <a:srgbClr val="70706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FAEF3E47-CCC0-B5EE-2205-FBDF4AB261EB}"/>
              </a:ext>
            </a:extLst>
          </p:cNvPr>
          <p:cNvSpPr/>
          <p:nvPr/>
        </p:nvSpPr>
        <p:spPr>
          <a:xfrm>
            <a:off x="9499600" y="5308600"/>
            <a:ext cx="1778000" cy="5588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E4E4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12700" rIns="50800" bIns="12700" rtlCol="0" anchor="ctr"/>
          <a:lstStyle/>
          <a:p>
            <a:pPr algn="ctr"/>
            <a:r>
              <a:rPr lang="en-US" altLang="zh-CN" sz="1200" b="1">
                <a:solidFill>
                  <a:srgbClr val="1A1A19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Agent </a:t>
            </a:r>
            <a:r>
              <a:rPr lang="zh-CN" altLang="en-US" sz="1200" b="1">
                <a:solidFill>
                  <a:srgbClr val="1A1A19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继续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7E3371F-BB6E-4CD4-A436-A2705382ABCE}"/>
              </a:ext>
            </a:extLst>
          </p:cNvPr>
          <p:cNvSpPr txBox="1"/>
          <p:nvPr/>
        </p:nvSpPr>
        <p:spPr>
          <a:xfrm>
            <a:off x="762000" y="6451600"/>
            <a:ext cx="5080000" cy="177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n-US" altLang="zh-CN" sz="900">
                <a:solidFill>
                  <a:srgbClr val="70706B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MarioCode · v0.2.45</a:t>
            </a:r>
            <a:endParaRPr lang="zh-CN" altLang="en-US" sz="900">
              <a:solidFill>
                <a:srgbClr val="70706B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347F84AF-2B36-94E4-4A27-9C5BDF4516B6}"/>
              </a:ext>
            </a:extLst>
          </p:cNvPr>
          <p:cNvSpPr txBox="1"/>
          <p:nvPr/>
        </p:nvSpPr>
        <p:spPr>
          <a:xfrm>
            <a:off x="10160000" y="6451600"/>
            <a:ext cx="1270000" cy="177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>
              <a:lnSpc>
                <a:spcPct val="115000"/>
              </a:lnSpc>
            </a:pPr>
            <a:r>
              <a:rPr lang="en-US" altLang="zh-CN" sz="900">
                <a:solidFill>
                  <a:srgbClr val="70706B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06</a:t>
            </a:r>
            <a:endParaRPr lang="zh-CN" altLang="en-US" sz="900">
              <a:solidFill>
                <a:srgbClr val="70706B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618904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8657ABD3-95B0-9536-5A6D-ACA6F6918D3F}"/>
              </a:ext>
            </a:extLst>
          </p:cNvPr>
          <p:cNvSpPr txBox="1"/>
          <p:nvPr/>
        </p:nvSpPr>
        <p:spPr>
          <a:xfrm>
            <a:off x="762000" y="482600"/>
            <a:ext cx="7620000" cy="203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n-US" altLang="zh-CN" sz="1100" b="1">
                <a:solidFill>
                  <a:srgbClr val="2C7053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06 · </a:t>
            </a:r>
            <a:r>
              <a:rPr lang="zh-CN" altLang="en-US" sz="1100" b="1">
                <a:solidFill>
                  <a:srgbClr val="2C7053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扩展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F0B4D5D-175F-5369-00E4-667AEF06E501}"/>
              </a:ext>
            </a:extLst>
          </p:cNvPr>
          <p:cNvSpPr txBox="1"/>
          <p:nvPr/>
        </p:nvSpPr>
        <p:spPr>
          <a:xfrm>
            <a:off x="762000" y="736600"/>
            <a:ext cx="10668000" cy="558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zh-CN" altLang="en-US" sz="3000" b="1">
                <a:solidFill>
                  <a:srgbClr val="1A1A19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插件、</a:t>
            </a:r>
            <a:r>
              <a:rPr lang="en-US" altLang="zh-CN" sz="3000" b="1">
                <a:solidFill>
                  <a:srgbClr val="1A1A19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MCP</a:t>
            </a:r>
            <a:r>
              <a:rPr lang="zh-CN" altLang="en-US" sz="3000" b="1">
                <a:solidFill>
                  <a:srgbClr val="1A1A19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、语言服务与并行会话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228D1A0-5328-40B0-2831-302C41FBB8A9}"/>
              </a:ext>
            </a:extLst>
          </p:cNvPr>
          <p:cNvSpPr txBox="1"/>
          <p:nvPr/>
        </p:nvSpPr>
        <p:spPr>
          <a:xfrm>
            <a:off x="762000" y="1320800"/>
            <a:ext cx="106680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zh-CN" altLang="en-US" sz="1400">
                <a:solidFill>
                  <a:srgbClr val="52524E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把团队常用的能力装进来，三个引擎同样可用。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AA81BEF4-B351-DC69-C57E-CBB0A3ABC2A4}"/>
              </a:ext>
            </a:extLst>
          </p:cNvPr>
          <p:cNvSpPr/>
          <p:nvPr/>
        </p:nvSpPr>
        <p:spPr>
          <a:xfrm>
            <a:off x="762000" y="1905000"/>
            <a:ext cx="3403600" cy="3327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4E4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E40E8F51-5B75-61D6-9D4F-DCD24768B022}"/>
              </a:ext>
            </a:extLst>
          </p:cNvPr>
          <p:cNvSpPr/>
          <p:nvPr/>
        </p:nvSpPr>
        <p:spPr>
          <a:xfrm>
            <a:off x="1041400" y="2184400"/>
            <a:ext cx="508000" cy="508000"/>
          </a:xfrm>
          <a:prstGeom prst="roundRect">
            <a:avLst>
              <a:gd name="adj" fmla="val 28000"/>
            </a:avLst>
          </a:prstGeom>
          <a:solidFill>
            <a:srgbClr val="E2F0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12700" rIns="50800" bIns="12700" rtlCol="0" anchor="ctr"/>
          <a:lstStyle/>
          <a:p>
            <a:pPr algn="ctr"/>
            <a:r>
              <a:rPr lang="en-US" altLang="zh-CN" sz="1600" b="1">
                <a:solidFill>
                  <a:srgbClr val="2C7053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1</a:t>
            </a:r>
            <a:endParaRPr lang="zh-CN" altLang="en-US" sz="1600" b="1">
              <a:solidFill>
                <a:srgbClr val="2C7053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A7241E4-5679-C088-3403-B6A2CF6570DE}"/>
              </a:ext>
            </a:extLst>
          </p:cNvPr>
          <p:cNvSpPr txBox="1"/>
          <p:nvPr/>
        </p:nvSpPr>
        <p:spPr>
          <a:xfrm>
            <a:off x="1041400" y="2870200"/>
            <a:ext cx="2844800" cy="330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zh-CN" altLang="en-US" b="1">
                <a:solidFill>
                  <a:srgbClr val="1A1A19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插件与 </a:t>
            </a:r>
            <a:r>
              <a:rPr lang="en-US" altLang="zh-CN" b="1">
                <a:solidFill>
                  <a:srgbClr val="1A1A19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MCP</a:t>
            </a:r>
            <a:endParaRPr lang="zh-CN" altLang="en-US" b="1">
              <a:solidFill>
                <a:srgbClr val="1A1A19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D49E44F-0EFD-7AC9-3528-B9DEC7EF302D}"/>
              </a:ext>
            </a:extLst>
          </p:cNvPr>
          <p:cNvSpPr txBox="1"/>
          <p:nvPr/>
        </p:nvSpPr>
        <p:spPr>
          <a:xfrm>
            <a:off x="1041400" y="3327400"/>
            <a:ext cx="2844800" cy="1803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zh-CN" altLang="en-US" sz="1200">
                <a:solidFill>
                  <a:srgbClr val="52524E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从市场 </a:t>
            </a:r>
            <a:r>
              <a:rPr lang="en-US" altLang="zh-CN" sz="1200">
                <a:solidFill>
                  <a:srgbClr val="52524E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/ Git </a:t>
            </a:r>
            <a:r>
              <a:rPr lang="zh-CN" altLang="en-US" sz="1200">
                <a:solidFill>
                  <a:srgbClr val="52524E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仓库 </a:t>
            </a:r>
            <a:r>
              <a:rPr lang="en-US" altLang="zh-CN" sz="1200">
                <a:solidFill>
                  <a:srgbClr val="52524E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/ </a:t>
            </a:r>
            <a:r>
              <a:rPr lang="zh-CN" altLang="en-US" sz="1200">
                <a:solidFill>
                  <a:srgbClr val="52524E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本地文件夹 </a:t>
            </a:r>
            <a:r>
              <a:rPr lang="en-US" altLang="zh-CN" sz="1200">
                <a:solidFill>
                  <a:srgbClr val="52524E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/ zip </a:t>
            </a:r>
            <a:r>
              <a:rPr lang="zh-CN" altLang="en-US" sz="1200">
                <a:solidFill>
                  <a:srgbClr val="52524E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安装。一个插件可带技能、斜杠命令、子代理、</a:t>
            </a:r>
            <a:r>
              <a:rPr lang="en-US" altLang="zh-CN" sz="1200">
                <a:solidFill>
                  <a:srgbClr val="52524E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MCP </a:t>
            </a:r>
            <a:r>
              <a:rPr lang="zh-CN" altLang="en-US" sz="1200">
                <a:solidFill>
                  <a:srgbClr val="52524E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服务器和 </a:t>
            </a:r>
            <a:r>
              <a:rPr lang="en-US" altLang="zh-CN" sz="1200">
                <a:solidFill>
                  <a:srgbClr val="52524E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hooks</a:t>
            </a:r>
            <a:r>
              <a:rPr lang="zh-CN" altLang="en-US" sz="1200">
                <a:solidFill>
                  <a:srgbClr val="52524E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。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416A12A2-BD57-0317-9399-8E810DE7DADD}"/>
              </a:ext>
            </a:extLst>
          </p:cNvPr>
          <p:cNvSpPr/>
          <p:nvPr/>
        </p:nvSpPr>
        <p:spPr>
          <a:xfrm>
            <a:off x="4394200" y="1905000"/>
            <a:ext cx="3403600" cy="3327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4E4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B875D6F8-A169-DBD6-2395-C37CAB51717B}"/>
              </a:ext>
            </a:extLst>
          </p:cNvPr>
          <p:cNvSpPr/>
          <p:nvPr/>
        </p:nvSpPr>
        <p:spPr>
          <a:xfrm>
            <a:off x="4673600" y="2184400"/>
            <a:ext cx="508000" cy="508000"/>
          </a:xfrm>
          <a:prstGeom prst="roundRect">
            <a:avLst>
              <a:gd name="adj" fmla="val 28000"/>
            </a:avLst>
          </a:prstGeom>
          <a:solidFill>
            <a:srgbClr val="E2F0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12700" rIns="50800" bIns="12700" rtlCol="0" anchor="ctr"/>
          <a:lstStyle/>
          <a:p>
            <a:pPr algn="ctr"/>
            <a:r>
              <a:rPr lang="en-US" altLang="zh-CN" sz="1600" b="1">
                <a:solidFill>
                  <a:srgbClr val="2C7053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2</a:t>
            </a:r>
            <a:endParaRPr lang="zh-CN" altLang="en-US" sz="1600" b="1">
              <a:solidFill>
                <a:srgbClr val="2C7053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A310D3C2-3A58-AC2D-22DA-1F3911020DA5}"/>
              </a:ext>
            </a:extLst>
          </p:cNvPr>
          <p:cNvSpPr txBox="1"/>
          <p:nvPr/>
        </p:nvSpPr>
        <p:spPr>
          <a:xfrm>
            <a:off x="4673600" y="2870200"/>
            <a:ext cx="2844800" cy="330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zh-CN" altLang="en-US" b="1">
                <a:solidFill>
                  <a:srgbClr val="1A1A19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语言服务器 </a:t>
            </a:r>
            <a:r>
              <a:rPr lang="en-US" altLang="zh-CN" b="1">
                <a:solidFill>
                  <a:srgbClr val="1A1A19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LSP</a:t>
            </a:r>
            <a:endParaRPr lang="zh-CN" altLang="en-US" b="1">
              <a:solidFill>
                <a:srgbClr val="1A1A19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3EA166FA-6452-BE17-B539-3217AD2A6674}"/>
              </a:ext>
            </a:extLst>
          </p:cNvPr>
          <p:cNvSpPr txBox="1"/>
          <p:nvPr/>
        </p:nvSpPr>
        <p:spPr>
          <a:xfrm>
            <a:off x="4673600" y="3327400"/>
            <a:ext cx="2844800" cy="1803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altLang="zh-CN" sz="1200">
                <a:solidFill>
                  <a:srgbClr val="52524E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TypeScript / JavaScript</a:t>
            </a:r>
            <a:r>
              <a:rPr lang="zh-CN" altLang="en-US" sz="1200">
                <a:solidFill>
                  <a:srgbClr val="52524E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、</a:t>
            </a:r>
            <a:r>
              <a:rPr lang="en-US" altLang="zh-CN" sz="1200">
                <a:solidFill>
                  <a:srgbClr val="52524E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Python</a:t>
            </a:r>
            <a:r>
              <a:rPr lang="zh-CN" altLang="en-US" sz="1200">
                <a:solidFill>
                  <a:srgbClr val="52524E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（</a:t>
            </a:r>
            <a:r>
              <a:rPr lang="en-US" altLang="zh-CN" sz="1200">
                <a:solidFill>
                  <a:srgbClr val="52524E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basedpyright</a:t>
            </a:r>
            <a:r>
              <a:rPr lang="zh-CN" altLang="en-US" sz="1200">
                <a:solidFill>
                  <a:srgbClr val="52524E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）、</a:t>
            </a:r>
            <a:r>
              <a:rPr lang="en-US" altLang="zh-CN" sz="1200">
                <a:solidFill>
                  <a:srgbClr val="52524E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Go</a:t>
            </a:r>
            <a:r>
              <a:rPr lang="zh-CN" altLang="en-US" sz="1200">
                <a:solidFill>
                  <a:srgbClr val="52524E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（</a:t>
            </a:r>
            <a:r>
              <a:rPr lang="en-US" altLang="zh-CN" sz="1200">
                <a:solidFill>
                  <a:srgbClr val="52524E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gopls</a:t>
            </a:r>
            <a:r>
              <a:rPr lang="zh-CN" altLang="en-US" sz="1200">
                <a:solidFill>
                  <a:srgbClr val="52524E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）、</a:t>
            </a:r>
            <a:r>
              <a:rPr lang="en-US" altLang="zh-CN" sz="1200">
                <a:solidFill>
                  <a:srgbClr val="52524E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Java</a:t>
            </a:r>
            <a:r>
              <a:rPr lang="zh-CN" altLang="en-US" sz="1200">
                <a:solidFill>
                  <a:srgbClr val="52524E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（</a:t>
            </a:r>
            <a:r>
              <a:rPr lang="en-US" altLang="zh-CN" sz="1200">
                <a:solidFill>
                  <a:srgbClr val="52524E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jdtls</a:t>
            </a:r>
            <a:r>
              <a:rPr lang="zh-CN" altLang="en-US" sz="1200">
                <a:solidFill>
                  <a:srgbClr val="52524E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），一键安装启用。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8A8FDEAD-630A-44C0-48F6-493AF2984215}"/>
              </a:ext>
            </a:extLst>
          </p:cNvPr>
          <p:cNvSpPr/>
          <p:nvPr/>
        </p:nvSpPr>
        <p:spPr>
          <a:xfrm>
            <a:off x="8026400" y="1905000"/>
            <a:ext cx="3403600" cy="3327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4E4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0390231B-5F4E-1DF4-DB01-FD8E169A56D2}"/>
              </a:ext>
            </a:extLst>
          </p:cNvPr>
          <p:cNvSpPr/>
          <p:nvPr/>
        </p:nvSpPr>
        <p:spPr>
          <a:xfrm>
            <a:off x="8305800" y="2184400"/>
            <a:ext cx="508000" cy="508000"/>
          </a:xfrm>
          <a:prstGeom prst="roundRect">
            <a:avLst>
              <a:gd name="adj" fmla="val 28000"/>
            </a:avLst>
          </a:prstGeom>
          <a:solidFill>
            <a:srgbClr val="E2F0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12700" rIns="50800" bIns="12700" rtlCol="0" anchor="ctr"/>
          <a:lstStyle/>
          <a:p>
            <a:pPr algn="ctr"/>
            <a:r>
              <a:rPr lang="en-US" altLang="zh-CN" sz="1600" b="1">
                <a:solidFill>
                  <a:srgbClr val="2C7053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3</a:t>
            </a:r>
            <a:endParaRPr lang="zh-CN" altLang="en-US" sz="1600" b="1">
              <a:solidFill>
                <a:srgbClr val="2C7053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D9FB69D1-A174-7B4E-5097-AB2ED191D7AE}"/>
              </a:ext>
            </a:extLst>
          </p:cNvPr>
          <p:cNvSpPr txBox="1"/>
          <p:nvPr/>
        </p:nvSpPr>
        <p:spPr>
          <a:xfrm>
            <a:off x="8305800" y="2870200"/>
            <a:ext cx="2844800" cy="330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n-US" altLang="zh-CN" b="1">
                <a:solidFill>
                  <a:srgbClr val="1A1A19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Worktree </a:t>
            </a:r>
            <a:r>
              <a:rPr lang="zh-CN" altLang="en-US" b="1">
                <a:solidFill>
                  <a:srgbClr val="1A1A19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并行会话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2985DCE8-0137-6BB5-C6D8-2FE76AB97B20}"/>
              </a:ext>
            </a:extLst>
          </p:cNvPr>
          <p:cNvSpPr txBox="1"/>
          <p:nvPr/>
        </p:nvSpPr>
        <p:spPr>
          <a:xfrm>
            <a:off x="8305800" y="3327400"/>
            <a:ext cx="2844800" cy="1803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zh-CN" altLang="en-US" sz="1200">
                <a:solidFill>
                  <a:srgbClr val="52524E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在同一仓库的独立 </a:t>
            </a:r>
            <a:r>
              <a:rPr lang="en-US" altLang="zh-CN" sz="1200">
                <a:solidFill>
                  <a:srgbClr val="52524E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worktree </a:t>
            </a:r>
            <a:r>
              <a:rPr lang="zh-CN" altLang="en-US" sz="1200">
                <a:solidFill>
                  <a:srgbClr val="52524E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里开会话，多条线并行互不干扰。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3499B24D-BDC7-8993-DEF7-A3ECC4906499}"/>
              </a:ext>
            </a:extLst>
          </p:cNvPr>
          <p:cNvSpPr/>
          <p:nvPr/>
        </p:nvSpPr>
        <p:spPr>
          <a:xfrm>
            <a:off x="762000" y="5461000"/>
            <a:ext cx="10668000" cy="558800"/>
          </a:xfrm>
          <a:prstGeom prst="roundRect">
            <a:avLst>
              <a:gd name="adj" fmla="val 14000"/>
            </a:avLst>
          </a:prstGeom>
          <a:solidFill>
            <a:srgbClr val="F6F6F5"/>
          </a:solidFill>
          <a:ln w="9525">
            <a:solidFill>
              <a:srgbClr val="E4E4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12700" rIns="50800" bIns="12700" rtlCol="0" anchor="ctr"/>
          <a:lstStyle/>
          <a:p>
            <a:pPr algn="ctr"/>
            <a:r>
              <a:rPr lang="zh-CN" altLang="en-US" sz="1300">
                <a:solidFill>
                  <a:srgbClr val="52524E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另有：</a:t>
            </a:r>
            <a:r>
              <a:rPr lang="en-US" altLang="zh-CN" sz="1300">
                <a:solidFill>
                  <a:srgbClr val="52524E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AI </a:t>
            </a:r>
            <a:r>
              <a:rPr lang="zh-CN" altLang="en-US" sz="1300">
                <a:solidFill>
                  <a:srgbClr val="52524E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提交信息、</a:t>
            </a:r>
            <a:r>
              <a:rPr lang="en-US" altLang="zh-CN" sz="1300">
                <a:solidFill>
                  <a:srgbClr val="52524E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AI </a:t>
            </a:r>
            <a:r>
              <a:rPr lang="zh-CN" altLang="en-US" sz="1300">
                <a:solidFill>
                  <a:srgbClr val="52524E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合并冲突解决、语音输入、鼠标手势、用量统计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65E1D469-D533-BE62-A2DB-E94EE788301E}"/>
              </a:ext>
            </a:extLst>
          </p:cNvPr>
          <p:cNvSpPr txBox="1"/>
          <p:nvPr/>
        </p:nvSpPr>
        <p:spPr>
          <a:xfrm>
            <a:off x="762000" y="6451600"/>
            <a:ext cx="5080000" cy="177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n-US" altLang="zh-CN" sz="900">
                <a:solidFill>
                  <a:srgbClr val="70706B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MarioCode · v0.2.45</a:t>
            </a:r>
            <a:endParaRPr lang="zh-CN" altLang="en-US" sz="900">
              <a:solidFill>
                <a:srgbClr val="70706B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B3FF9D9C-661E-7768-0D32-3ED58B9BD0C8}"/>
              </a:ext>
            </a:extLst>
          </p:cNvPr>
          <p:cNvSpPr txBox="1"/>
          <p:nvPr/>
        </p:nvSpPr>
        <p:spPr>
          <a:xfrm>
            <a:off x="10160000" y="6451600"/>
            <a:ext cx="1270000" cy="177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>
              <a:lnSpc>
                <a:spcPct val="115000"/>
              </a:lnSpc>
            </a:pPr>
            <a:r>
              <a:rPr lang="en-US" altLang="zh-CN" sz="900">
                <a:solidFill>
                  <a:srgbClr val="70706B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07</a:t>
            </a:r>
            <a:endParaRPr lang="zh-CN" altLang="en-US" sz="900">
              <a:solidFill>
                <a:srgbClr val="70706B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071793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36F0C5D0-9C6A-2067-0650-1EC6E2B6BAF2}"/>
              </a:ext>
            </a:extLst>
          </p:cNvPr>
          <p:cNvSpPr txBox="1"/>
          <p:nvPr/>
        </p:nvSpPr>
        <p:spPr>
          <a:xfrm>
            <a:off x="762000" y="482600"/>
            <a:ext cx="7620000" cy="203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n-US" altLang="zh-CN" sz="1100" b="1">
                <a:solidFill>
                  <a:srgbClr val="2C7053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07 · </a:t>
            </a:r>
            <a:r>
              <a:rPr lang="zh-CN" altLang="en-US" sz="1100" b="1">
                <a:solidFill>
                  <a:srgbClr val="2C7053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移动端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1627C35-A705-7CF6-1207-A183063D7324}"/>
              </a:ext>
            </a:extLst>
          </p:cNvPr>
          <p:cNvSpPr txBox="1"/>
          <p:nvPr/>
        </p:nvSpPr>
        <p:spPr>
          <a:xfrm>
            <a:off x="762000" y="736600"/>
            <a:ext cx="10668000" cy="558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zh-CN" altLang="en-US" sz="3000" b="1">
                <a:solidFill>
                  <a:srgbClr val="1A1A19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用手机远程控制桌面上的会话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F43EC95-7DFC-6D5A-5FE3-CE47824449E1}"/>
              </a:ext>
            </a:extLst>
          </p:cNvPr>
          <p:cNvSpPr txBox="1"/>
          <p:nvPr/>
        </p:nvSpPr>
        <p:spPr>
          <a:xfrm>
            <a:off x="762000" y="1320800"/>
            <a:ext cx="106680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zh-CN" altLang="en-US" sz="1400">
                <a:solidFill>
                  <a:srgbClr val="52524E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局域网扫码配对，或通过自己的 </a:t>
            </a:r>
            <a:r>
              <a:rPr lang="en-US" altLang="zh-CN" sz="1400">
                <a:solidFill>
                  <a:srgbClr val="52524E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VPS </a:t>
            </a:r>
            <a:r>
              <a:rPr lang="zh-CN" altLang="en-US" sz="1400">
                <a:solidFill>
                  <a:srgbClr val="52524E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在任何地方连回来。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4AA5A07E-B0C3-83F4-59CE-B86180030D4C}"/>
              </a:ext>
            </a:extLst>
          </p:cNvPr>
          <p:cNvSpPr/>
          <p:nvPr/>
        </p:nvSpPr>
        <p:spPr>
          <a:xfrm>
            <a:off x="1219200" y="1778000"/>
            <a:ext cx="2133600" cy="4318000"/>
          </a:xfrm>
          <a:prstGeom prst="roundRect">
            <a:avLst>
              <a:gd name="adj" fmla="val 14000"/>
            </a:avLst>
          </a:prstGeom>
          <a:solidFill>
            <a:srgbClr val="28383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EBED5DA0-8697-AF93-8AF7-834BE7DDD137}"/>
              </a:ext>
            </a:extLst>
          </p:cNvPr>
          <p:cNvSpPr/>
          <p:nvPr/>
        </p:nvSpPr>
        <p:spPr>
          <a:xfrm>
            <a:off x="1346200" y="2032000"/>
            <a:ext cx="1879600" cy="381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6BD99326-CC3D-A0A7-174B-61EF8B3898FA}"/>
              </a:ext>
            </a:extLst>
          </p:cNvPr>
          <p:cNvSpPr/>
          <p:nvPr/>
        </p:nvSpPr>
        <p:spPr>
          <a:xfrm>
            <a:off x="1905000" y="1879600"/>
            <a:ext cx="762000" cy="63500"/>
          </a:xfrm>
          <a:prstGeom prst="roundRect">
            <a:avLst>
              <a:gd name="adj" fmla="val 50000"/>
            </a:avLst>
          </a:prstGeom>
          <a:solidFill>
            <a:srgbClr val="31443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7BE10368-38AC-999A-A4A4-18F69CFC66D5}"/>
              </a:ext>
            </a:extLst>
          </p:cNvPr>
          <p:cNvSpPr/>
          <p:nvPr/>
        </p:nvSpPr>
        <p:spPr>
          <a:xfrm>
            <a:off x="1473200" y="2235200"/>
            <a:ext cx="1168400" cy="177800"/>
          </a:xfrm>
          <a:prstGeom prst="roundRect">
            <a:avLst>
              <a:gd name="adj" fmla="val 40000"/>
            </a:avLst>
          </a:prstGeom>
          <a:solidFill>
            <a:srgbClr val="E4E4E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374B5FF2-CC88-54C4-37E1-92F7457AA828}"/>
              </a:ext>
            </a:extLst>
          </p:cNvPr>
          <p:cNvSpPr/>
          <p:nvPr/>
        </p:nvSpPr>
        <p:spPr>
          <a:xfrm>
            <a:off x="1473200" y="2565400"/>
            <a:ext cx="1625600" cy="558800"/>
          </a:xfrm>
          <a:prstGeom prst="roundRect">
            <a:avLst>
              <a:gd name="adj" fmla="val 12000"/>
            </a:avLst>
          </a:prstGeom>
          <a:solidFill>
            <a:srgbClr val="E2F0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5BBC7223-A83B-FB10-5690-E882F87CC0BF}"/>
              </a:ext>
            </a:extLst>
          </p:cNvPr>
          <p:cNvSpPr/>
          <p:nvPr/>
        </p:nvSpPr>
        <p:spPr>
          <a:xfrm>
            <a:off x="1473200" y="3251200"/>
            <a:ext cx="1371600" cy="177800"/>
          </a:xfrm>
          <a:prstGeom prst="roundRect">
            <a:avLst>
              <a:gd name="adj" fmla="val 40000"/>
            </a:avLst>
          </a:prstGeom>
          <a:solidFill>
            <a:srgbClr val="E4E4E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3FC143D3-3C0C-016A-0B86-ADD36A280CF2}"/>
              </a:ext>
            </a:extLst>
          </p:cNvPr>
          <p:cNvSpPr/>
          <p:nvPr/>
        </p:nvSpPr>
        <p:spPr>
          <a:xfrm>
            <a:off x="1473200" y="3581400"/>
            <a:ext cx="1625600" cy="787400"/>
          </a:xfrm>
          <a:prstGeom prst="roundRect">
            <a:avLst>
              <a:gd name="adj" fmla="val 10000"/>
            </a:avLst>
          </a:prstGeom>
          <a:solidFill>
            <a:srgbClr val="F6F6F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7FCE542B-ABCF-0BFF-7C7B-8ACD4A24A967}"/>
              </a:ext>
            </a:extLst>
          </p:cNvPr>
          <p:cNvSpPr/>
          <p:nvPr/>
        </p:nvSpPr>
        <p:spPr>
          <a:xfrm>
            <a:off x="1473200" y="4724400"/>
            <a:ext cx="1625600" cy="406400"/>
          </a:xfrm>
          <a:prstGeom prst="roundRect">
            <a:avLst>
              <a:gd name="adj" fmla="val 30000"/>
            </a:avLst>
          </a:prstGeom>
          <a:solidFill>
            <a:srgbClr val="28383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12700" rIns="50800" bIns="12700" rtlCol="0" anchor="ctr"/>
          <a:lstStyle/>
          <a:p>
            <a:pPr algn="ctr"/>
            <a:r>
              <a:rPr lang="zh-CN" altLang="en-US" sz="1100" b="1">
                <a:solidFill>
                  <a:srgbClr val="FFFFFF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批准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D51514AD-BEB7-6A2B-F0A2-9A0617C78663}"/>
              </a:ext>
            </a:extLst>
          </p:cNvPr>
          <p:cNvSpPr/>
          <p:nvPr/>
        </p:nvSpPr>
        <p:spPr>
          <a:xfrm>
            <a:off x="1473200" y="5232400"/>
            <a:ext cx="1625600" cy="3810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9525">
            <a:solidFill>
              <a:srgbClr val="E4E4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12700" rIns="50800" bIns="12700" rtlCol="0" anchor="ctr"/>
          <a:lstStyle/>
          <a:p>
            <a:pPr algn="ctr"/>
            <a:r>
              <a:rPr lang="zh-CN" altLang="en-US" sz="1100">
                <a:solidFill>
                  <a:srgbClr val="DC2626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拒绝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42A46E01-2C4D-8A56-FD18-DBCCC91ED009}"/>
              </a:ext>
            </a:extLst>
          </p:cNvPr>
          <p:cNvSpPr txBox="1"/>
          <p:nvPr/>
        </p:nvSpPr>
        <p:spPr>
          <a:xfrm>
            <a:off x="1219200" y="6197600"/>
            <a:ext cx="2133600" cy="177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lnSpc>
                <a:spcPct val="115000"/>
              </a:lnSpc>
            </a:pPr>
            <a:r>
              <a:rPr lang="zh-CN" altLang="en-US" sz="900">
                <a:solidFill>
                  <a:srgbClr val="70706B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示意 </a:t>
            </a:r>
            <a:r>
              <a:rPr lang="en-US" altLang="zh-CN" sz="900">
                <a:solidFill>
                  <a:srgbClr val="70706B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· </a:t>
            </a:r>
            <a:r>
              <a:rPr lang="zh-CN" altLang="en-US" sz="900">
                <a:solidFill>
                  <a:srgbClr val="70706B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手机端审批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59961F78-36B9-BB7B-234C-55B43342B6D0}"/>
              </a:ext>
            </a:extLst>
          </p:cNvPr>
          <p:cNvSpPr/>
          <p:nvPr/>
        </p:nvSpPr>
        <p:spPr>
          <a:xfrm>
            <a:off x="4064000" y="1905000"/>
            <a:ext cx="3556000" cy="1905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4E4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1376ECD-3A03-EAD9-3EE2-3B426E1CFD5D}"/>
              </a:ext>
            </a:extLst>
          </p:cNvPr>
          <p:cNvSpPr txBox="1"/>
          <p:nvPr/>
        </p:nvSpPr>
        <p:spPr>
          <a:xfrm>
            <a:off x="4318000" y="2133600"/>
            <a:ext cx="30480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zh-CN" altLang="en-US" b="1">
                <a:solidFill>
                  <a:srgbClr val="1A1A19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局域网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B23E3B6A-D0D6-549B-09B4-C74A2B2B7DE8}"/>
              </a:ext>
            </a:extLst>
          </p:cNvPr>
          <p:cNvSpPr txBox="1"/>
          <p:nvPr/>
        </p:nvSpPr>
        <p:spPr>
          <a:xfrm>
            <a:off x="4318000" y="2565400"/>
            <a:ext cx="3048000" cy="1143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altLang="en-US" sz="1300">
                <a:solidFill>
                  <a:srgbClr val="52524E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桌面端提供伴侣网页应用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altLang="en-US" sz="1300">
                <a:solidFill>
                  <a:srgbClr val="52524E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手机扫二维码完成配对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altLang="en-US" sz="1300">
                <a:solidFill>
                  <a:srgbClr val="52524E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设备令牌认证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66B3161A-640A-267F-8DB1-2FA90D7B7B19}"/>
              </a:ext>
            </a:extLst>
          </p:cNvPr>
          <p:cNvSpPr/>
          <p:nvPr/>
        </p:nvSpPr>
        <p:spPr>
          <a:xfrm>
            <a:off x="7874000" y="1905000"/>
            <a:ext cx="3556000" cy="1905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4E4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985AC326-5AF6-460F-32A7-AA2089D5FB4A}"/>
              </a:ext>
            </a:extLst>
          </p:cNvPr>
          <p:cNvSpPr txBox="1"/>
          <p:nvPr/>
        </p:nvSpPr>
        <p:spPr>
          <a:xfrm>
            <a:off x="8128000" y="2133600"/>
            <a:ext cx="30480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zh-CN" altLang="en-US" b="1">
                <a:solidFill>
                  <a:srgbClr val="1A1A19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远程（</a:t>
            </a:r>
            <a:r>
              <a:rPr lang="en-US" altLang="zh-CN" b="1">
                <a:solidFill>
                  <a:srgbClr val="1A1A19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SSH </a:t>
            </a:r>
            <a:r>
              <a:rPr lang="zh-CN" altLang="en-US" b="1">
                <a:solidFill>
                  <a:srgbClr val="1A1A19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反向隧道）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0445BA64-4831-161C-4512-78363DD1A9DE}"/>
              </a:ext>
            </a:extLst>
          </p:cNvPr>
          <p:cNvSpPr txBox="1"/>
          <p:nvPr/>
        </p:nvSpPr>
        <p:spPr>
          <a:xfrm>
            <a:off x="8128000" y="2565400"/>
            <a:ext cx="3048000" cy="1143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altLang="en-US" sz="1300">
                <a:solidFill>
                  <a:srgbClr val="52524E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通过你自己的 </a:t>
            </a:r>
            <a:r>
              <a:rPr lang="en-US" altLang="zh-CN" sz="1300">
                <a:solidFill>
                  <a:srgbClr val="52524E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VPS </a:t>
            </a:r>
            <a:r>
              <a:rPr lang="zh-CN" altLang="en-US" sz="1300">
                <a:solidFill>
                  <a:srgbClr val="52524E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连接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altLang="en-US" sz="1300">
                <a:solidFill>
                  <a:srgbClr val="52524E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不依赖第三方穿透服务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altLang="en-US" sz="1300">
                <a:solidFill>
                  <a:srgbClr val="52524E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随时随地接入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7646B046-5057-3C6A-1D1C-D3B4D74501B3}"/>
              </a:ext>
            </a:extLst>
          </p:cNvPr>
          <p:cNvSpPr/>
          <p:nvPr/>
        </p:nvSpPr>
        <p:spPr>
          <a:xfrm>
            <a:off x="4064000" y="4064000"/>
            <a:ext cx="7366000" cy="1905000"/>
          </a:xfrm>
          <a:prstGeom prst="roundRect">
            <a:avLst>
              <a:gd name="adj" fmla="val 5000"/>
            </a:avLst>
          </a:prstGeom>
          <a:solidFill>
            <a:srgbClr val="28383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FF0B3780-4792-20FF-DD19-9D60D02B7BDA}"/>
              </a:ext>
            </a:extLst>
          </p:cNvPr>
          <p:cNvSpPr txBox="1"/>
          <p:nvPr/>
        </p:nvSpPr>
        <p:spPr>
          <a:xfrm>
            <a:off x="4368800" y="4292600"/>
            <a:ext cx="67564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zh-CN" altLang="en-US" sz="1600" b="1">
                <a:solidFill>
                  <a:srgbClr val="8BC0A3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手机上能做什么</a:t>
            </a:r>
          </a:p>
        </p:txBody>
      </p:sp>
      <p:sp>
        <p:nvSpPr>
          <p:cNvPr id="23" name="椭圆 22">
            <a:extLst>
              <a:ext uri="{FF2B5EF4-FFF2-40B4-BE49-F238E27FC236}">
                <a16:creationId xmlns:a16="http://schemas.microsoft.com/office/drawing/2014/main" id="{B8ED6700-9C3B-077C-8620-86AC93A67148}"/>
              </a:ext>
            </a:extLst>
          </p:cNvPr>
          <p:cNvSpPr/>
          <p:nvPr/>
        </p:nvSpPr>
        <p:spPr>
          <a:xfrm>
            <a:off x="4368800" y="4851400"/>
            <a:ext cx="76200" cy="76200"/>
          </a:xfrm>
          <a:prstGeom prst="ellipse">
            <a:avLst/>
          </a:prstGeom>
          <a:solidFill>
            <a:srgbClr val="8BC0A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6CEC5726-BCBA-2A26-6BF2-F0D9C34FF68C}"/>
              </a:ext>
            </a:extLst>
          </p:cNvPr>
          <p:cNvSpPr txBox="1"/>
          <p:nvPr/>
        </p:nvSpPr>
        <p:spPr>
          <a:xfrm>
            <a:off x="4572000" y="4775200"/>
            <a:ext cx="20320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zh-CN" altLang="en-US" sz="1300">
                <a:solidFill>
                  <a:srgbClr val="FFFFFF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实时查看会话输出</a:t>
            </a:r>
          </a:p>
        </p:txBody>
      </p:sp>
      <p:sp>
        <p:nvSpPr>
          <p:cNvPr id="25" name="椭圆 24">
            <a:extLst>
              <a:ext uri="{FF2B5EF4-FFF2-40B4-BE49-F238E27FC236}">
                <a16:creationId xmlns:a16="http://schemas.microsoft.com/office/drawing/2014/main" id="{2E878702-E11F-3881-F64C-30DC5DB9320F}"/>
              </a:ext>
            </a:extLst>
          </p:cNvPr>
          <p:cNvSpPr/>
          <p:nvPr/>
        </p:nvSpPr>
        <p:spPr>
          <a:xfrm>
            <a:off x="6654800" y="4851400"/>
            <a:ext cx="76200" cy="76200"/>
          </a:xfrm>
          <a:prstGeom prst="ellipse">
            <a:avLst/>
          </a:prstGeom>
          <a:solidFill>
            <a:srgbClr val="8BC0A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AC86A6B6-D848-9D2F-6BC6-6BA27C2C7C62}"/>
              </a:ext>
            </a:extLst>
          </p:cNvPr>
          <p:cNvSpPr txBox="1"/>
          <p:nvPr/>
        </p:nvSpPr>
        <p:spPr>
          <a:xfrm>
            <a:off x="6858000" y="4775200"/>
            <a:ext cx="20320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zh-CN" altLang="en-US" sz="1300">
                <a:solidFill>
                  <a:srgbClr val="FFFFFF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发消息 </a:t>
            </a:r>
            <a:r>
              <a:rPr lang="en-US" altLang="zh-CN" sz="1300">
                <a:solidFill>
                  <a:srgbClr val="FFFFFF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· </a:t>
            </a:r>
            <a:r>
              <a:rPr lang="zh-CN" altLang="en-US" sz="1300">
                <a:solidFill>
                  <a:srgbClr val="FFFFFF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中断 </a:t>
            </a:r>
            <a:r>
              <a:rPr lang="en-US" altLang="zh-CN" sz="1300">
                <a:solidFill>
                  <a:srgbClr val="FFFFFF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· </a:t>
            </a:r>
            <a:r>
              <a:rPr lang="zh-CN" altLang="en-US" sz="1300">
                <a:solidFill>
                  <a:srgbClr val="FFFFFF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回退</a:t>
            </a:r>
          </a:p>
        </p:txBody>
      </p:sp>
      <p:sp>
        <p:nvSpPr>
          <p:cNvPr id="27" name="椭圆 26">
            <a:extLst>
              <a:ext uri="{FF2B5EF4-FFF2-40B4-BE49-F238E27FC236}">
                <a16:creationId xmlns:a16="http://schemas.microsoft.com/office/drawing/2014/main" id="{AC817B83-EE38-B801-7309-95C94CAB1B53}"/>
              </a:ext>
            </a:extLst>
          </p:cNvPr>
          <p:cNvSpPr/>
          <p:nvPr/>
        </p:nvSpPr>
        <p:spPr>
          <a:xfrm>
            <a:off x="8940800" y="4851400"/>
            <a:ext cx="76200" cy="76200"/>
          </a:xfrm>
          <a:prstGeom prst="ellipse">
            <a:avLst/>
          </a:prstGeom>
          <a:solidFill>
            <a:srgbClr val="8BC0A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6EA73F97-4364-C821-5E20-0AE1B8B382AD}"/>
              </a:ext>
            </a:extLst>
          </p:cNvPr>
          <p:cNvSpPr txBox="1"/>
          <p:nvPr/>
        </p:nvSpPr>
        <p:spPr>
          <a:xfrm>
            <a:off x="9144000" y="4775200"/>
            <a:ext cx="20320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zh-CN" altLang="en-US" sz="1300">
                <a:solidFill>
                  <a:srgbClr val="FFFFFF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批准 </a:t>
            </a:r>
            <a:r>
              <a:rPr lang="en-US" altLang="zh-CN" sz="1300">
                <a:solidFill>
                  <a:srgbClr val="FFFFFF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/ </a:t>
            </a:r>
            <a:r>
              <a:rPr lang="zh-CN" altLang="en-US" sz="1300">
                <a:solidFill>
                  <a:srgbClr val="FFFFFF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拒绝工具调用</a:t>
            </a:r>
          </a:p>
        </p:txBody>
      </p:sp>
      <p:sp>
        <p:nvSpPr>
          <p:cNvPr id="29" name="椭圆 28">
            <a:extLst>
              <a:ext uri="{FF2B5EF4-FFF2-40B4-BE49-F238E27FC236}">
                <a16:creationId xmlns:a16="http://schemas.microsoft.com/office/drawing/2014/main" id="{F1FC8BFE-F9B3-5E91-E65D-1A134830ABF8}"/>
              </a:ext>
            </a:extLst>
          </p:cNvPr>
          <p:cNvSpPr/>
          <p:nvPr/>
        </p:nvSpPr>
        <p:spPr>
          <a:xfrm>
            <a:off x="4368800" y="5359400"/>
            <a:ext cx="76200" cy="76200"/>
          </a:xfrm>
          <a:prstGeom prst="ellipse">
            <a:avLst/>
          </a:prstGeom>
          <a:solidFill>
            <a:srgbClr val="8BC0A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00FDFC75-3CC6-3DFF-7D7D-36DB810517C3}"/>
              </a:ext>
            </a:extLst>
          </p:cNvPr>
          <p:cNvSpPr txBox="1"/>
          <p:nvPr/>
        </p:nvSpPr>
        <p:spPr>
          <a:xfrm>
            <a:off x="4572000" y="5283200"/>
            <a:ext cx="20320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zh-CN" altLang="en-US" sz="1300">
                <a:solidFill>
                  <a:srgbClr val="FFFFFF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浏览文件与 </a:t>
            </a:r>
            <a:r>
              <a:rPr lang="en-US" altLang="zh-CN" sz="1300">
                <a:solidFill>
                  <a:srgbClr val="FFFFFF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Diff</a:t>
            </a:r>
            <a:endParaRPr lang="zh-CN" altLang="en-US" sz="1300">
              <a:solidFill>
                <a:srgbClr val="FFFFFF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31" name="椭圆 30">
            <a:extLst>
              <a:ext uri="{FF2B5EF4-FFF2-40B4-BE49-F238E27FC236}">
                <a16:creationId xmlns:a16="http://schemas.microsoft.com/office/drawing/2014/main" id="{03031AAD-5711-FF54-1712-FEEBCB6024C1}"/>
              </a:ext>
            </a:extLst>
          </p:cNvPr>
          <p:cNvSpPr/>
          <p:nvPr/>
        </p:nvSpPr>
        <p:spPr>
          <a:xfrm>
            <a:off x="6654800" y="5359400"/>
            <a:ext cx="76200" cy="76200"/>
          </a:xfrm>
          <a:prstGeom prst="ellipse">
            <a:avLst/>
          </a:prstGeom>
          <a:solidFill>
            <a:srgbClr val="8BC0A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F21B96AA-C2B9-896C-FB4F-354A3FBDCBB7}"/>
              </a:ext>
            </a:extLst>
          </p:cNvPr>
          <p:cNvSpPr txBox="1"/>
          <p:nvPr/>
        </p:nvSpPr>
        <p:spPr>
          <a:xfrm>
            <a:off x="6858000" y="5283200"/>
            <a:ext cx="20320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zh-CN" altLang="en-US" sz="1300">
                <a:solidFill>
                  <a:srgbClr val="FFFFFF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执行 </a:t>
            </a:r>
            <a:r>
              <a:rPr lang="en-US" altLang="zh-CN" sz="1300">
                <a:solidFill>
                  <a:srgbClr val="FFFFFF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Git </a:t>
            </a:r>
            <a:r>
              <a:rPr lang="zh-CN" altLang="en-US" sz="1300">
                <a:solidFill>
                  <a:srgbClr val="FFFFFF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操作</a:t>
            </a:r>
          </a:p>
        </p:txBody>
      </p:sp>
      <p:sp>
        <p:nvSpPr>
          <p:cNvPr id="33" name="椭圆 32">
            <a:extLst>
              <a:ext uri="{FF2B5EF4-FFF2-40B4-BE49-F238E27FC236}">
                <a16:creationId xmlns:a16="http://schemas.microsoft.com/office/drawing/2014/main" id="{6443DB50-F4A1-0E16-D80E-5367C819CE20}"/>
              </a:ext>
            </a:extLst>
          </p:cNvPr>
          <p:cNvSpPr/>
          <p:nvPr/>
        </p:nvSpPr>
        <p:spPr>
          <a:xfrm>
            <a:off x="8940800" y="5359400"/>
            <a:ext cx="76200" cy="76200"/>
          </a:xfrm>
          <a:prstGeom prst="ellipse">
            <a:avLst/>
          </a:prstGeom>
          <a:solidFill>
            <a:srgbClr val="8BC0A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96A4EC47-0C2E-0B5E-E603-6DA7B51CB68F}"/>
              </a:ext>
            </a:extLst>
          </p:cNvPr>
          <p:cNvSpPr txBox="1"/>
          <p:nvPr/>
        </p:nvSpPr>
        <p:spPr>
          <a:xfrm>
            <a:off x="9144000" y="5283200"/>
            <a:ext cx="20320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it-IT" altLang="zh-CN" sz="1300">
                <a:solidFill>
                  <a:srgbClr val="FFFFFF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AI </a:t>
            </a:r>
            <a:r>
              <a:rPr lang="zh-CN" altLang="it-IT" sz="1300">
                <a:solidFill>
                  <a:srgbClr val="FFFFFF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生成提交信息</a:t>
            </a:r>
            <a:endParaRPr lang="zh-CN" altLang="en-US" sz="1300">
              <a:solidFill>
                <a:srgbClr val="FFFFFF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DFA2F8C1-A360-FAEE-4F01-50F51CB9D84A}"/>
              </a:ext>
            </a:extLst>
          </p:cNvPr>
          <p:cNvSpPr txBox="1"/>
          <p:nvPr/>
        </p:nvSpPr>
        <p:spPr>
          <a:xfrm>
            <a:off x="762000" y="6451600"/>
            <a:ext cx="5080000" cy="177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n-US" altLang="zh-CN" sz="900">
                <a:solidFill>
                  <a:srgbClr val="70706B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MarioCode · v0.2.45</a:t>
            </a:r>
            <a:endParaRPr lang="zh-CN" altLang="en-US" sz="900">
              <a:solidFill>
                <a:srgbClr val="70706B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49C47175-F79D-056D-2EE5-543D798BD2D1}"/>
              </a:ext>
            </a:extLst>
          </p:cNvPr>
          <p:cNvSpPr txBox="1"/>
          <p:nvPr/>
        </p:nvSpPr>
        <p:spPr>
          <a:xfrm>
            <a:off x="10160000" y="6451600"/>
            <a:ext cx="1270000" cy="177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>
              <a:lnSpc>
                <a:spcPct val="115000"/>
              </a:lnSpc>
            </a:pPr>
            <a:r>
              <a:rPr lang="en-US" altLang="zh-CN" sz="900">
                <a:solidFill>
                  <a:srgbClr val="70706B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08</a:t>
            </a:r>
            <a:endParaRPr lang="zh-CN" altLang="en-US" sz="900">
              <a:solidFill>
                <a:srgbClr val="70706B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017577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B3B08ED-2D89-FBAF-9CD4-B52F1E0EC32A}"/>
              </a:ext>
            </a:extLst>
          </p:cNvPr>
          <p:cNvSpPr txBox="1"/>
          <p:nvPr/>
        </p:nvSpPr>
        <p:spPr>
          <a:xfrm>
            <a:off x="762000" y="482600"/>
            <a:ext cx="7620000" cy="203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n-US" altLang="zh-CN" sz="1100" b="1">
                <a:solidFill>
                  <a:srgbClr val="2C7053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08 · </a:t>
            </a:r>
            <a:r>
              <a:rPr lang="zh-CN" altLang="en-US" sz="1100" b="1">
                <a:solidFill>
                  <a:srgbClr val="2C7053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技术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2881B8A-C86E-DD8F-783E-C982905F2C25}"/>
              </a:ext>
            </a:extLst>
          </p:cNvPr>
          <p:cNvSpPr txBox="1"/>
          <p:nvPr/>
        </p:nvSpPr>
        <p:spPr>
          <a:xfrm>
            <a:off x="762000" y="736600"/>
            <a:ext cx="10668000" cy="558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zh-CN" altLang="en-US" sz="3000" b="1">
                <a:solidFill>
                  <a:srgbClr val="1A1A19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一套类型贯穿的 </a:t>
            </a:r>
            <a:r>
              <a:rPr lang="en-US" altLang="zh-CN" sz="3000" b="1">
                <a:solidFill>
                  <a:srgbClr val="1A1A19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Electron </a:t>
            </a:r>
            <a:r>
              <a:rPr lang="zh-CN" altLang="en-US" sz="3000" b="1">
                <a:solidFill>
                  <a:srgbClr val="1A1A19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应用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B9CDBEB-93FD-3548-F4E1-044833704A42}"/>
              </a:ext>
            </a:extLst>
          </p:cNvPr>
          <p:cNvSpPr txBox="1"/>
          <p:nvPr/>
        </p:nvSpPr>
        <p:spPr>
          <a:xfrm>
            <a:off x="762000" y="1320800"/>
            <a:ext cx="106680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zh-CN" altLang="en-US" sz="1400">
                <a:solidFill>
                  <a:srgbClr val="52524E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主进程负责 </a:t>
            </a:r>
            <a:r>
              <a:rPr lang="en-US" altLang="zh-CN" sz="1400">
                <a:solidFill>
                  <a:srgbClr val="52524E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Agent</a:t>
            </a:r>
            <a:r>
              <a:rPr lang="zh-CN" altLang="en-US" sz="1400">
                <a:solidFill>
                  <a:srgbClr val="52524E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、数据与系统能力；渲染进程只通过校验过的 </a:t>
            </a:r>
            <a:r>
              <a:rPr lang="en-US" altLang="zh-CN" sz="1400">
                <a:solidFill>
                  <a:srgbClr val="52524E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IPC </a:t>
            </a:r>
            <a:r>
              <a:rPr lang="zh-CN" altLang="en-US" sz="1400">
                <a:solidFill>
                  <a:srgbClr val="52524E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调用。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4F118F4B-D3F1-6CCC-7D03-AD888E043B20}"/>
              </a:ext>
            </a:extLst>
          </p:cNvPr>
          <p:cNvSpPr/>
          <p:nvPr/>
        </p:nvSpPr>
        <p:spPr>
          <a:xfrm>
            <a:off x="762000" y="1905000"/>
            <a:ext cx="6858000" cy="584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4E4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BB12C0C-F5A0-8FA3-1525-B6BC1961934E}"/>
              </a:ext>
            </a:extLst>
          </p:cNvPr>
          <p:cNvSpPr txBox="1"/>
          <p:nvPr/>
        </p:nvSpPr>
        <p:spPr>
          <a:xfrm>
            <a:off x="990600" y="2082800"/>
            <a:ext cx="13970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zh-CN" altLang="en-US" sz="1300" b="1">
                <a:solidFill>
                  <a:srgbClr val="2C7053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外壳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A60774A-B973-62A6-7802-1A29D53C6934}"/>
              </a:ext>
            </a:extLst>
          </p:cNvPr>
          <p:cNvSpPr txBox="1"/>
          <p:nvPr/>
        </p:nvSpPr>
        <p:spPr>
          <a:xfrm>
            <a:off x="2413000" y="2082800"/>
            <a:ext cx="50800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n-US" altLang="zh-CN" sz="1200">
                <a:solidFill>
                  <a:srgbClr val="1A1A19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Electron 33 · electron-vite · electron-builder 25</a:t>
            </a:r>
            <a:endParaRPr lang="zh-CN" altLang="en-US" sz="1200">
              <a:solidFill>
                <a:srgbClr val="1A1A19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1A12EE7E-FE3B-3249-65D9-6C8D8A84730F}"/>
              </a:ext>
            </a:extLst>
          </p:cNvPr>
          <p:cNvSpPr/>
          <p:nvPr/>
        </p:nvSpPr>
        <p:spPr>
          <a:xfrm>
            <a:off x="762000" y="2590800"/>
            <a:ext cx="6858000" cy="584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4E4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183C228-51A8-6425-755A-265E9D2AC5CA}"/>
              </a:ext>
            </a:extLst>
          </p:cNvPr>
          <p:cNvSpPr txBox="1"/>
          <p:nvPr/>
        </p:nvSpPr>
        <p:spPr>
          <a:xfrm>
            <a:off x="990600" y="2768600"/>
            <a:ext cx="13970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zh-CN" altLang="en-US" sz="1300" b="1">
                <a:solidFill>
                  <a:srgbClr val="2C7053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前端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BF10551-61F4-469B-A974-B670CE1EC6E8}"/>
              </a:ext>
            </a:extLst>
          </p:cNvPr>
          <p:cNvSpPr txBox="1"/>
          <p:nvPr/>
        </p:nvSpPr>
        <p:spPr>
          <a:xfrm>
            <a:off x="2413000" y="2768600"/>
            <a:ext cx="50800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n-US" altLang="zh-CN" sz="1200">
                <a:solidFill>
                  <a:srgbClr val="1A1A19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React 19 · Zustand 5 · Tailwind CSS 3 · @base-ui/react</a:t>
            </a:r>
            <a:endParaRPr lang="zh-CN" altLang="en-US" sz="1200">
              <a:solidFill>
                <a:srgbClr val="1A1A19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830C6CAA-9558-DD5A-6B7D-60D569DFFCB6}"/>
              </a:ext>
            </a:extLst>
          </p:cNvPr>
          <p:cNvSpPr/>
          <p:nvPr/>
        </p:nvSpPr>
        <p:spPr>
          <a:xfrm>
            <a:off x="762000" y="3276600"/>
            <a:ext cx="6858000" cy="584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4E4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79435CF-2665-8B5B-BCC9-3B8F5C9B5437}"/>
              </a:ext>
            </a:extLst>
          </p:cNvPr>
          <p:cNvSpPr txBox="1"/>
          <p:nvPr/>
        </p:nvSpPr>
        <p:spPr>
          <a:xfrm>
            <a:off x="990600" y="3454400"/>
            <a:ext cx="13970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zh-CN" altLang="en-US" sz="1300" b="1">
                <a:solidFill>
                  <a:srgbClr val="2C7053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编辑与终端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A9FF5518-646C-A006-5D42-98162E11479E}"/>
              </a:ext>
            </a:extLst>
          </p:cNvPr>
          <p:cNvSpPr txBox="1"/>
          <p:nvPr/>
        </p:nvSpPr>
        <p:spPr>
          <a:xfrm>
            <a:off x="2413000" y="3454400"/>
            <a:ext cx="50800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n-US" altLang="zh-CN" sz="1200">
                <a:solidFill>
                  <a:srgbClr val="1A1A19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Monaco Editor · xterm.js 6 · node-pty</a:t>
            </a:r>
            <a:endParaRPr lang="zh-CN" altLang="en-US" sz="1200">
              <a:solidFill>
                <a:srgbClr val="1A1A19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E6CDCD7C-D0FB-9D83-AD3A-D63A09A016A7}"/>
              </a:ext>
            </a:extLst>
          </p:cNvPr>
          <p:cNvSpPr/>
          <p:nvPr/>
        </p:nvSpPr>
        <p:spPr>
          <a:xfrm>
            <a:off x="762000" y="3962400"/>
            <a:ext cx="6858000" cy="584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4E4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750E25E-56CB-416F-9DC8-A5FB92BA63DD}"/>
              </a:ext>
            </a:extLst>
          </p:cNvPr>
          <p:cNvSpPr txBox="1"/>
          <p:nvPr/>
        </p:nvSpPr>
        <p:spPr>
          <a:xfrm>
            <a:off x="990600" y="4140200"/>
            <a:ext cx="13970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n-US" altLang="zh-CN" sz="1300" b="1">
                <a:solidFill>
                  <a:srgbClr val="2C7053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Agent</a:t>
            </a:r>
            <a:endParaRPr lang="zh-CN" altLang="en-US" sz="1300" b="1">
              <a:solidFill>
                <a:srgbClr val="2C7053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A4AA711-2DF4-9626-3CC1-FFAC120A7E00}"/>
              </a:ext>
            </a:extLst>
          </p:cNvPr>
          <p:cNvSpPr txBox="1"/>
          <p:nvPr/>
        </p:nvSpPr>
        <p:spPr>
          <a:xfrm>
            <a:off x="2413000" y="4140200"/>
            <a:ext cx="50800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fr-FR" altLang="zh-CN" sz="1200">
                <a:solidFill>
                  <a:srgbClr val="1A1A19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claude-agent-sdk 0.3.258 · Codex 0.153.4 · Pi 0.83.0</a:t>
            </a:r>
            <a:endParaRPr lang="zh-CN" altLang="en-US" sz="1200">
              <a:solidFill>
                <a:srgbClr val="1A1A19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C002DC0A-461D-66E5-334D-2C47E9C6B1A2}"/>
              </a:ext>
            </a:extLst>
          </p:cNvPr>
          <p:cNvSpPr/>
          <p:nvPr/>
        </p:nvSpPr>
        <p:spPr>
          <a:xfrm>
            <a:off x="762000" y="4648200"/>
            <a:ext cx="6858000" cy="584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4E4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9FF4E152-909D-40DF-DA1C-DB505F32C296}"/>
              </a:ext>
            </a:extLst>
          </p:cNvPr>
          <p:cNvSpPr txBox="1"/>
          <p:nvPr/>
        </p:nvSpPr>
        <p:spPr>
          <a:xfrm>
            <a:off x="990600" y="4826000"/>
            <a:ext cx="13970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zh-CN" altLang="en-US" sz="1300" b="1">
                <a:solidFill>
                  <a:srgbClr val="2C7053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数据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12F3D8A7-0EE2-F963-7F16-9F7B7CCEF96B}"/>
              </a:ext>
            </a:extLst>
          </p:cNvPr>
          <p:cNvSpPr txBox="1"/>
          <p:nvPr/>
        </p:nvSpPr>
        <p:spPr>
          <a:xfrm>
            <a:off x="2413000" y="4826000"/>
            <a:ext cx="50800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n-US" altLang="zh-CN" sz="1200">
                <a:solidFill>
                  <a:srgbClr val="1A1A19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better-sqlite3</a:t>
            </a:r>
            <a:r>
              <a:rPr lang="zh-CN" altLang="en-US" sz="1200">
                <a:solidFill>
                  <a:srgbClr val="1A1A19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（同步 </a:t>
            </a:r>
            <a:r>
              <a:rPr lang="en-US" altLang="zh-CN" sz="1200">
                <a:solidFill>
                  <a:srgbClr val="1A1A19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SQLite</a:t>
            </a:r>
            <a:r>
              <a:rPr lang="zh-CN" altLang="en-US" sz="1200">
                <a:solidFill>
                  <a:srgbClr val="1A1A19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，会话持久化）</a:t>
            </a: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37DD7A2A-D00D-4DCD-613F-860AC7FC358A}"/>
              </a:ext>
            </a:extLst>
          </p:cNvPr>
          <p:cNvSpPr/>
          <p:nvPr/>
        </p:nvSpPr>
        <p:spPr>
          <a:xfrm>
            <a:off x="762000" y="5334000"/>
            <a:ext cx="6858000" cy="584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4E4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26825E2A-15C0-DE76-82B5-B6D2ED9089CE}"/>
              </a:ext>
            </a:extLst>
          </p:cNvPr>
          <p:cNvSpPr txBox="1"/>
          <p:nvPr/>
        </p:nvSpPr>
        <p:spPr>
          <a:xfrm>
            <a:off x="990600" y="5511800"/>
            <a:ext cx="13970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zh-CN" altLang="en-US" sz="1300" b="1">
                <a:solidFill>
                  <a:srgbClr val="2C7053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契约与工程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7C015314-8F5E-F074-66F3-49EF88BA112D}"/>
              </a:ext>
            </a:extLst>
          </p:cNvPr>
          <p:cNvSpPr txBox="1"/>
          <p:nvPr/>
        </p:nvSpPr>
        <p:spPr>
          <a:xfrm>
            <a:off x="2413000" y="5511800"/>
            <a:ext cx="50800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n-US" altLang="zh-CN" sz="1200">
                <a:solidFill>
                  <a:srgbClr val="1A1A19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zod </a:t>
            </a:r>
            <a:r>
              <a:rPr lang="zh-CN" altLang="en-US" sz="1200">
                <a:solidFill>
                  <a:srgbClr val="1A1A19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跨进程 </a:t>
            </a:r>
            <a:r>
              <a:rPr lang="en-US" altLang="zh-CN" sz="1200">
                <a:solidFill>
                  <a:srgbClr val="1A1A19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IPC </a:t>
            </a:r>
            <a:r>
              <a:rPr lang="zh-CN" altLang="en-US" sz="1200">
                <a:solidFill>
                  <a:srgbClr val="1A1A19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校验 </a:t>
            </a:r>
            <a:r>
              <a:rPr lang="en-US" altLang="zh-CN" sz="1200">
                <a:solidFill>
                  <a:srgbClr val="1A1A19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· pnpm 11 · Turbo · TypeScript 5 strict</a:t>
            </a:r>
            <a:endParaRPr lang="zh-CN" altLang="en-US" sz="1200">
              <a:solidFill>
                <a:srgbClr val="1A1A19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7B1D1C01-2047-6B5A-FC9D-DEA211535A15}"/>
              </a:ext>
            </a:extLst>
          </p:cNvPr>
          <p:cNvSpPr/>
          <p:nvPr/>
        </p:nvSpPr>
        <p:spPr>
          <a:xfrm>
            <a:off x="8001000" y="1905000"/>
            <a:ext cx="3429000" cy="401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4E4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D6909C68-06A7-867B-1C2E-122F1FB71217}"/>
              </a:ext>
            </a:extLst>
          </p:cNvPr>
          <p:cNvSpPr txBox="1"/>
          <p:nvPr/>
        </p:nvSpPr>
        <p:spPr>
          <a:xfrm>
            <a:off x="8255000" y="2108200"/>
            <a:ext cx="2921000" cy="177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zh-CN" altLang="en-US" sz="1000">
                <a:solidFill>
                  <a:srgbClr val="70706B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进程边界</a:t>
            </a: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E2204558-456F-9F58-E59D-40C1A0C541A5}"/>
              </a:ext>
            </a:extLst>
          </p:cNvPr>
          <p:cNvSpPr/>
          <p:nvPr/>
        </p:nvSpPr>
        <p:spPr>
          <a:xfrm>
            <a:off x="8255000" y="2413000"/>
            <a:ext cx="2921000" cy="914400"/>
          </a:xfrm>
          <a:prstGeom prst="roundRect">
            <a:avLst>
              <a:gd name="adj" fmla="val 10000"/>
            </a:avLst>
          </a:prstGeom>
          <a:solidFill>
            <a:srgbClr val="F6F6F5"/>
          </a:solidFill>
          <a:ln w="9525">
            <a:solidFill>
              <a:srgbClr val="E4E4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12700" rIns="50800" bIns="12700" rtlCol="0" anchor="ctr"/>
          <a:lstStyle/>
          <a:p>
            <a:pPr algn="ctr"/>
            <a:r>
              <a:rPr lang="zh-CN" altLang="en-US" sz="1400" b="1">
                <a:solidFill>
                  <a:srgbClr val="1A1A19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渲染进程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E997FB00-475B-300E-76B6-5FBE226D6D4A}"/>
              </a:ext>
            </a:extLst>
          </p:cNvPr>
          <p:cNvSpPr txBox="1"/>
          <p:nvPr/>
        </p:nvSpPr>
        <p:spPr>
          <a:xfrm>
            <a:off x="8255000" y="2946400"/>
            <a:ext cx="2921000" cy="203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lnSpc>
                <a:spcPct val="115000"/>
              </a:lnSpc>
            </a:pPr>
            <a:r>
              <a:rPr lang="en-US" altLang="zh-CN" sz="1000">
                <a:solidFill>
                  <a:srgbClr val="70706B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React · Zustand</a:t>
            </a:r>
            <a:endParaRPr lang="zh-CN" altLang="en-US" sz="1000">
              <a:solidFill>
                <a:srgbClr val="70706B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D5D495A0-3230-5632-8FBF-EE0A3699A353}"/>
              </a:ext>
            </a:extLst>
          </p:cNvPr>
          <p:cNvSpPr/>
          <p:nvPr/>
        </p:nvSpPr>
        <p:spPr>
          <a:xfrm>
            <a:off x="8255000" y="3708400"/>
            <a:ext cx="2921000" cy="330200"/>
          </a:xfrm>
          <a:prstGeom prst="roundRect">
            <a:avLst>
              <a:gd name="adj" fmla="val 30000"/>
            </a:avLst>
          </a:prstGeom>
          <a:solidFill>
            <a:srgbClr val="E2F0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12700" rIns="50800" bIns="12700" rtlCol="0" anchor="ctr"/>
          <a:lstStyle/>
          <a:p>
            <a:pPr algn="ctr"/>
            <a:r>
              <a:rPr lang="en-US" altLang="zh-CN" sz="1100" b="1">
                <a:solidFill>
                  <a:srgbClr val="2C7053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IPC · zod </a:t>
            </a:r>
            <a:r>
              <a:rPr lang="zh-CN" altLang="en-US" sz="1100" b="1">
                <a:solidFill>
                  <a:srgbClr val="2C7053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校验</a:t>
            </a:r>
          </a:p>
        </p:txBody>
      </p: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D85776C4-2AD4-5048-0A76-1215037DB6BF}"/>
              </a:ext>
            </a:extLst>
          </p:cNvPr>
          <p:cNvCxnSpPr/>
          <p:nvPr/>
        </p:nvCxnSpPr>
        <p:spPr>
          <a:xfrm>
            <a:off x="9715500" y="3327400"/>
            <a:ext cx="0" cy="381000"/>
          </a:xfrm>
          <a:prstGeom prst="line">
            <a:avLst/>
          </a:prstGeom>
          <a:ln w="15875">
            <a:solidFill>
              <a:srgbClr val="70706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4FB44456-6EE2-0C3E-010D-9F49E278C693}"/>
              </a:ext>
            </a:extLst>
          </p:cNvPr>
          <p:cNvCxnSpPr/>
          <p:nvPr/>
        </p:nvCxnSpPr>
        <p:spPr>
          <a:xfrm>
            <a:off x="9715500" y="4038600"/>
            <a:ext cx="0" cy="381000"/>
          </a:xfrm>
          <a:prstGeom prst="line">
            <a:avLst/>
          </a:prstGeom>
          <a:ln w="15875">
            <a:solidFill>
              <a:srgbClr val="70706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DA6AEEC7-E831-0E85-C3F2-C077485B726D}"/>
              </a:ext>
            </a:extLst>
          </p:cNvPr>
          <p:cNvSpPr/>
          <p:nvPr/>
        </p:nvSpPr>
        <p:spPr>
          <a:xfrm>
            <a:off x="8255000" y="4419600"/>
            <a:ext cx="2921000" cy="1270000"/>
          </a:xfrm>
          <a:prstGeom prst="roundRect">
            <a:avLst>
              <a:gd name="adj" fmla="val 10000"/>
            </a:avLst>
          </a:prstGeom>
          <a:solidFill>
            <a:srgbClr val="28383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D4681619-6A7F-760A-233E-7A4ABD8FF976}"/>
              </a:ext>
            </a:extLst>
          </p:cNvPr>
          <p:cNvSpPr txBox="1"/>
          <p:nvPr/>
        </p:nvSpPr>
        <p:spPr>
          <a:xfrm>
            <a:off x="8255000" y="4597400"/>
            <a:ext cx="29210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lnSpc>
                <a:spcPct val="115000"/>
              </a:lnSpc>
            </a:pPr>
            <a:r>
              <a:rPr lang="zh-CN" altLang="en-US" sz="1400" b="1">
                <a:solidFill>
                  <a:srgbClr val="FFFFFF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主进程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981907EA-3C6A-CE85-87A8-960E87433DEA}"/>
              </a:ext>
            </a:extLst>
          </p:cNvPr>
          <p:cNvSpPr txBox="1"/>
          <p:nvPr/>
        </p:nvSpPr>
        <p:spPr>
          <a:xfrm>
            <a:off x="8407400" y="4978400"/>
            <a:ext cx="2616200" cy="609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lnSpc>
                <a:spcPct val="115000"/>
              </a:lnSpc>
            </a:pPr>
            <a:r>
              <a:rPr lang="en-US" altLang="zh-CN" sz="1100">
                <a:solidFill>
                  <a:srgbClr val="B0C4BA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Agent </a:t>
            </a:r>
            <a:r>
              <a:rPr lang="zh-CN" altLang="en-US" sz="1100">
                <a:solidFill>
                  <a:srgbClr val="B0C4BA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提供方 </a:t>
            </a:r>
            <a:r>
              <a:rPr lang="en-US" altLang="zh-CN" sz="1100">
                <a:solidFill>
                  <a:srgbClr val="B0C4BA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· SQLite · </a:t>
            </a:r>
            <a:r>
              <a:rPr lang="zh-CN" altLang="en-US" sz="1100">
                <a:solidFill>
                  <a:srgbClr val="B0C4BA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浏览器 </a:t>
            </a:r>
            <a:r>
              <a:rPr lang="en-US" altLang="zh-CN" sz="1100">
                <a:solidFill>
                  <a:srgbClr val="B0C4BA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· </a:t>
            </a:r>
            <a:r>
              <a:rPr lang="zh-CN" altLang="en-US" sz="1100">
                <a:solidFill>
                  <a:srgbClr val="B0C4BA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终端 </a:t>
            </a:r>
            <a:r>
              <a:rPr lang="en-US" altLang="zh-CN" sz="1100">
                <a:solidFill>
                  <a:srgbClr val="B0C4BA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· Git</a:t>
            </a:r>
            <a:endParaRPr lang="zh-CN" altLang="en-US" sz="1100">
              <a:solidFill>
                <a:srgbClr val="B0C4BA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65C805D0-5912-5E8C-D2AD-BEB07ADA6FDE}"/>
              </a:ext>
            </a:extLst>
          </p:cNvPr>
          <p:cNvSpPr txBox="1"/>
          <p:nvPr/>
        </p:nvSpPr>
        <p:spPr>
          <a:xfrm>
            <a:off x="762000" y="6451600"/>
            <a:ext cx="5080000" cy="177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n-US" altLang="zh-CN" sz="900">
                <a:solidFill>
                  <a:srgbClr val="70706B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MarioCode · v0.2.45</a:t>
            </a:r>
            <a:endParaRPr lang="zh-CN" altLang="en-US" sz="900">
              <a:solidFill>
                <a:srgbClr val="70706B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D0FA1690-23E1-B435-6C6F-390E32FC15F0}"/>
              </a:ext>
            </a:extLst>
          </p:cNvPr>
          <p:cNvSpPr txBox="1"/>
          <p:nvPr/>
        </p:nvSpPr>
        <p:spPr>
          <a:xfrm>
            <a:off x="10160000" y="6451600"/>
            <a:ext cx="1270000" cy="177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>
              <a:lnSpc>
                <a:spcPct val="115000"/>
              </a:lnSpc>
            </a:pPr>
            <a:r>
              <a:rPr lang="en-US" altLang="zh-CN" sz="900">
                <a:solidFill>
                  <a:srgbClr val="70706B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09</a:t>
            </a:r>
            <a:endParaRPr lang="zh-CN" altLang="en-US" sz="900">
              <a:solidFill>
                <a:srgbClr val="70706B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573539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838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>
            <a:extLst>
              <a:ext uri="{FF2B5EF4-FFF2-40B4-BE49-F238E27FC236}">
                <a16:creationId xmlns:a16="http://schemas.microsoft.com/office/drawing/2014/main" id="{CEF24156-A4AD-4A8A-8CA6-067A38EE3E51}"/>
              </a:ext>
            </a:extLst>
          </p:cNvPr>
          <p:cNvSpPr/>
          <p:nvPr/>
        </p:nvSpPr>
        <p:spPr>
          <a:xfrm>
            <a:off x="7620000" y="-1524000"/>
            <a:ext cx="6096000" cy="6096000"/>
          </a:xfrm>
          <a:prstGeom prst="ellipse">
            <a:avLst/>
          </a:prstGeom>
          <a:solidFill>
            <a:srgbClr val="31443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12425F9-0E53-504D-8C2D-6CF7E928169D}"/>
              </a:ext>
            </a:extLst>
          </p:cNvPr>
          <p:cNvSpPr txBox="1"/>
          <p:nvPr/>
        </p:nvSpPr>
        <p:spPr>
          <a:xfrm>
            <a:off x="762000" y="914400"/>
            <a:ext cx="6350000" cy="203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n-US" altLang="zh-CN" sz="1200" b="1">
                <a:solidFill>
                  <a:srgbClr val="8BC0A3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GET STARTED</a:t>
            </a:r>
            <a:endParaRPr lang="zh-CN" altLang="en-US" sz="1200" b="1">
              <a:solidFill>
                <a:srgbClr val="8BC0A3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30A84F1-5B3A-3F3D-C41F-2846224026F6}"/>
              </a:ext>
            </a:extLst>
          </p:cNvPr>
          <p:cNvSpPr txBox="1"/>
          <p:nvPr/>
        </p:nvSpPr>
        <p:spPr>
          <a:xfrm>
            <a:off x="762000" y="1270000"/>
            <a:ext cx="8890000" cy="762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zh-CN" altLang="en-US" sz="4400" b="1">
                <a:solidFill>
                  <a:srgbClr val="FFFFFF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现在就试试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0BF0560-4468-38CD-04E4-8AF7F4FB592F}"/>
              </a:ext>
            </a:extLst>
          </p:cNvPr>
          <p:cNvSpPr txBox="1"/>
          <p:nvPr/>
        </p:nvSpPr>
        <p:spPr>
          <a:xfrm>
            <a:off x="762000" y="2133600"/>
            <a:ext cx="81280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zh-CN" altLang="en-US" sz="1500">
                <a:solidFill>
                  <a:srgbClr val="B0C4BA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安装包不内置 </a:t>
            </a:r>
            <a:r>
              <a:rPr lang="en-US" altLang="zh-CN" sz="1500">
                <a:solidFill>
                  <a:srgbClr val="B0C4BA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Agent </a:t>
            </a:r>
            <a:r>
              <a:rPr lang="zh-CN" altLang="en-US" sz="1500">
                <a:solidFill>
                  <a:srgbClr val="B0C4BA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运行时，首次使用时按需下载。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951A6E1E-D4AA-613F-9365-1F794FA14C49}"/>
              </a:ext>
            </a:extLst>
          </p:cNvPr>
          <p:cNvSpPr/>
          <p:nvPr/>
        </p:nvSpPr>
        <p:spPr>
          <a:xfrm>
            <a:off x="762000" y="2844800"/>
            <a:ext cx="5080000" cy="1981200"/>
          </a:xfrm>
          <a:prstGeom prst="roundRect">
            <a:avLst>
              <a:gd name="adj" fmla="val 5000"/>
            </a:avLst>
          </a:prstGeom>
          <a:solidFill>
            <a:srgbClr val="31443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5B7CB92-9C55-1441-7955-3A5CE784128E}"/>
              </a:ext>
            </a:extLst>
          </p:cNvPr>
          <p:cNvSpPr txBox="1"/>
          <p:nvPr/>
        </p:nvSpPr>
        <p:spPr>
          <a:xfrm>
            <a:off x="1041400" y="3048000"/>
            <a:ext cx="45212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zh-CN" altLang="en-US" sz="1500" b="1">
                <a:solidFill>
                  <a:srgbClr val="8BC0A3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下载安装包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76EB771-313E-152D-D246-15F83C501A75}"/>
              </a:ext>
            </a:extLst>
          </p:cNvPr>
          <p:cNvSpPr txBox="1"/>
          <p:nvPr/>
        </p:nvSpPr>
        <p:spPr>
          <a:xfrm>
            <a:off x="1041400" y="3454400"/>
            <a:ext cx="4521200" cy="1270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altLang="zh-CN" sz="1300">
                <a:solidFill>
                  <a:srgbClr val="FFFFFF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GitHub Releases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altLang="zh-CN" sz="1300">
                <a:solidFill>
                  <a:srgbClr val="FFFFFF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Windows</a:t>
            </a:r>
            <a:r>
              <a:rPr lang="zh-CN" altLang="en-US" sz="1300">
                <a:solidFill>
                  <a:srgbClr val="FFFFFF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：</a:t>
            </a:r>
            <a:r>
              <a:rPr lang="en-US" altLang="zh-CN" sz="1300">
                <a:solidFill>
                  <a:srgbClr val="FFFFFF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NSIS </a:t>
            </a:r>
            <a:r>
              <a:rPr lang="zh-CN" altLang="en-US" sz="1300">
                <a:solidFill>
                  <a:srgbClr val="FFFFFF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安装包（</a:t>
            </a:r>
            <a:r>
              <a:rPr lang="en-US" altLang="zh-CN" sz="1300">
                <a:solidFill>
                  <a:srgbClr val="FFFFFF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x64</a:t>
            </a:r>
            <a:r>
              <a:rPr lang="zh-CN" altLang="en-US" sz="1300">
                <a:solidFill>
                  <a:srgbClr val="FFFFFF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）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altLang="zh-CN" sz="1300">
                <a:solidFill>
                  <a:srgbClr val="FFFFFF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macOS</a:t>
            </a:r>
            <a:r>
              <a:rPr lang="zh-CN" altLang="en-US" sz="1300">
                <a:solidFill>
                  <a:srgbClr val="FFFFFF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：</a:t>
            </a:r>
            <a:r>
              <a:rPr lang="en-US" altLang="zh-CN" sz="1300">
                <a:solidFill>
                  <a:srgbClr val="FFFFFF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dmg</a:t>
            </a:r>
            <a:r>
              <a:rPr lang="zh-CN" altLang="en-US" sz="1300">
                <a:solidFill>
                  <a:srgbClr val="FFFFFF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（</a:t>
            </a:r>
            <a:r>
              <a:rPr lang="en-US" altLang="zh-CN" sz="1300">
                <a:solidFill>
                  <a:srgbClr val="FFFFFF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Apple </a:t>
            </a:r>
            <a:r>
              <a:rPr lang="zh-CN" altLang="en-US" sz="1300">
                <a:solidFill>
                  <a:srgbClr val="FFFFFF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芯片 </a:t>
            </a:r>
            <a:r>
              <a:rPr lang="en-US" altLang="zh-CN" sz="1300">
                <a:solidFill>
                  <a:srgbClr val="FFFFFF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/ Intel</a:t>
            </a:r>
            <a:r>
              <a:rPr lang="zh-CN" altLang="en-US" sz="1300">
                <a:solidFill>
                  <a:srgbClr val="FFFFFF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）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6433BAD8-9306-4226-7443-E8C5BDC9BC6B}"/>
              </a:ext>
            </a:extLst>
          </p:cNvPr>
          <p:cNvSpPr/>
          <p:nvPr/>
        </p:nvSpPr>
        <p:spPr>
          <a:xfrm>
            <a:off x="6096000" y="2844800"/>
            <a:ext cx="5334000" cy="1981200"/>
          </a:xfrm>
          <a:prstGeom prst="roundRect">
            <a:avLst>
              <a:gd name="adj" fmla="val 5000"/>
            </a:avLst>
          </a:prstGeom>
          <a:solidFill>
            <a:srgbClr val="31443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51552E0-612A-5B7D-FA35-3C3BF6D4C1A0}"/>
              </a:ext>
            </a:extLst>
          </p:cNvPr>
          <p:cNvSpPr txBox="1"/>
          <p:nvPr/>
        </p:nvSpPr>
        <p:spPr>
          <a:xfrm>
            <a:off x="6375400" y="3048000"/>
            <a:ext cx="47752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zh-CN" altLang="en-US" sz="1500" b="1">
                <a:solidFill>
                  <a:srgbClr val="8BC0A3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从源码运行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1ED21A1-5781-CE27-AB4A-DE15FD3E2D64}"/>
              </a:ext>
            </a:extLst>
          </p:cNvPr>
          <p:cNvSpPr txBox="1"/>
          <p:nvPr/>
        </p:nvSpPr>
        <p:spPr>
          <a:xfrm>
            <a:off x="6375400" y="3454400"/>
            <a:ext cx="4775200" cy="508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altLang="zh-CN" sz="1400">
                <a:solidFill>
                  <a:srgbClr val="FFFFFF"/>
                </a:solidFill>
                <a:latin typeface="Consolas" panose="020B0609020204030204" pitchFamily="49" charset="0"/>
              </a:rPr>
              <a:t>pnpm install</a:t>
            </a:r>
            <a:endParaRPr lang="zh-CN" altLang="en-US" sz="1400">
              <a:solidFill>
                <a:srgbClr val="FFFFFF"/>
              </a:solidFill>
              <a:latin typeface="Consolas" panose="020B0609020204030204" pitchFamily="49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403CC908-D574-C23E-191F-D03DA9830498}"/>
              </a:ext>
            </a:extLst>
          </p:cNvPr>
          <p:cNvSpPr txBox="1"/>
          <p:nvPr/>
        </p:nvSpPr>
        <p:spPr>
          <a:xfrm>
            <a:off x="6375400" y="3835400"/>
            <a:ext cx="4775200" cy="508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altLang="zh-CN" sz="1400">
                <a:solidFill>
                  <a:srgbClr val="FFFFFF"/>
                </a:solidFill>
                <a:latin typeface="Consolas" panose="020B0609020204030204" pitchFamily="49" charset="0"/>
              </a:rPr>
              <a:t>pnpm dev</a:t>
            </a:r>
            <a:endParaRPr lang="zh-CN" altLang="en-US" sz="1400">
              <a:solidFill>
                <a:srgbClr val="FFFFFF"/>
              </a:solidFill>
              <a:latin typeface="Consolas" panose="020B0609020204030204" pitchFamily="49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54789115-7A63-CB7B-8B83-846157D22D45}"/>
              </a:ext>
            </a:extLst>
          </p:cNvPr>
          <p:cNvSpPr txBox="1"/>
          <p:nvPr/>
        </p:nvSpPr>
        <p:spPr>
          <a:xfrm>
            <a:off x="6375400" y="4318000"/>
            <a:ext cx="47752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zh-CN" altLang="en-US" sz="1200">
                <a:solidFill>
                  <a:srgbClr val="B0C4BA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需要 </a:t>
            </a:r>
            <a:r>
              <a:rPr lang="en-US" altLang="zh-CN" sz="1200">
                <a:solidFill>
                  <a:srgbClr val="B0C4BA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Node.js 22.13+ </a:t>
            </a:r>
            <a:r>
              <a:rPr lang="zh-CN" altLang="en-US" sz="1200">
                <a:solidFill>
                  <a:srgbClr val="B0C4BA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与 </a:t>
            </a:r>
            <a:r>
              <a:rPr lang="en-US" altLang="zh-CN" sz="1200">
                <a:solidFill>
                  <a:srgbClr val="B0C4BA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pnpm 9+</a:t>
            </a:r>
            <a:endParaRPr lang="zh-CN" altLang="en-US" sz="1200">
              <a:solidFill>
                <a:srgbClr val="B0C4BA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930A129-4641-2B35-3827-F4E26AAF1B29}"/>
              </a:ext>
            </a:extLst>
          </p:cNvPr>
          <p:cNvSpPr txBox="1"/>
          <p:nvPr/>
        </p:nvSpPr>
        <p:spPr>
          <a:xfrm>
            <a:off x="762000" y="5232400"/>
            <a:ext cx="106680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n-US" altLang="zh-CN" sz="1600" b="1">
                <a:solidFill>
                  <a:srgbClr val="8BC0A3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github.com/maxiaopang123/MarioCode</a:t>
            </a:r>
            <a:endParaRPr lang="zh-CN" altLang="en-US" sz="1600" b="1">
              <a:solidFill>
                <a:srgbClr val="8BC0A3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EBBFD58-72F1-3A61-6853-9398F5427FDC}"/>
              </a:ext>
            </a:extLst>
          </p:cNvPr>
          <p:cNvSpPr txBox="1"/>
          <p:nvPr/>
        </p:nvSpPr>
        <p:spPr>
          <a:xfrm>
            <a:off x="762000" y="5588000"/>
            <a:ext cx="10668000" cy="457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zh-CN" altLang="en-US" sz="1200">
                <a:solidFill>
                  <a:srgbClr val="B0C4BA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安装包未做代码签名，首次打开系统会给出警告，属预期现象；</a:t>
            </a:r>
            <a:r>
              <a:rPr lang="en-US" altLang="zh-CN" sz="1200">
                <a:solidFill>
                  <a:srgbClr val="B0C4BA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README </a:t>
            </a:r>
            <a:r>
              <a:rPr lang="zh-CN" altLang="en-US" sz="1200">
                <a:solidFill>
                  <a:srgbClr val="B0C4BA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里有各系统的放行方法。</a:t>
            </a:r>
            <a:r>
              <a:rPr lang="en-US" altLang="zh-CN" sz="1200">
                <a:solidFill>
                  <a:srgbClr val="B0C4BA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MIT </a:t>
            </a:r>
            <a:r>
              <a:rPr lang="zh-CN" altLang="en-US" sz="1200">
                <a:solidFill>
                  <a:srgbClr val="B0C4BA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开源，欢迎 </a:t>
            </a:r>
            <a:r>
              <a:rPr lang="en-US" altLang="zh-CN" sz="1200">
                <a:solidFill>
                  <a:srgbClr val="B0C4BA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Star</a:t>
            </a:r>
            <a:r>
              <a:rPr lang="zh-CN" altLang="en-US" sz="1200">
                <a:solidFill>
                  <a:srgbClr val="B0C4BA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。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65AF6954-91D9-BBF0-2BCB-4B2FC1181140}"/>
              </a:ext>
            </a:extLst>
          </p:cNvPr>
          <p:cNvSpPr txBox="1"/>
          <p:nvPr/>
        </p:nvSpPr>
        <p:spPr>
          <a:xfrm>
            <a:off x="762000" y="6451600"/>
            <a:ext cx="5080000" cy="177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n-US" altLang="zh-CN" sz="900">
                <a:solidFill>
                  <a:srgbClr val="B0C4BA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MarioCode · v0.2.45</a:t>
            </a:r>
            <a:endParaRPr lang="zh-CN" altLang="en-US" sz="900">
              <a:solidFill>
                <a:srgbClr val="B0C4BA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89157268-2CA6-ED2F-9561-48992748801D}"/>
              </a:ext>
            </a:extLst>
          </p:cNvPr>
          <p:cNvSpPr txBox="1"/>
          <p:nvPr/>
        </p:nvSpPr>
        <p:spPr>
          <a:xfrm>
            <a:off x="10160000" y="6451600"/>
            <a:ext cx="1270000" cy="177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>
              <a:lnSpc>
                <a:spcPct val="115000"/>
              </a:lnSpc>
            </a:pPr>
            <a:r>
              <a:rPr lang="en-US" altLang="zh-CN" sz="900">
                <a:solidFill>
                  <a:srgbClr val="B0C4BA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10</a:t>
            </a:r>
            <a:endParaRPr lang="zh-CN" altLang="en-US" sz="900">
              <a:solidFill>
                <a:srgbClr val="B0C4BA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702786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1753</Words>
  <Application>Microsoft Office PowerPoint</Application>
  <PresentationFormat>自定义</PresentationFormat>
  <Paragraphs>173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6" baseType="lpstr">
      <vt:lpstr>Microsoft YaHei UI</vt:lpstr>
      <vt:lpstr>等线</vt:lpstr>
      <vt:lpstr>等线 Light</vt:lpstr>
      <vt:lpstr>Arial</vt:lpstr>
      <vt:lpstr>Consolas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MAAA RIO</dc:creator>
  <cp:lastModifiedBy>MAAA RIO</cp:lastModifiedBy>
  <cp:revision>1</cp:revision>
  <dcterms:created xsi:type="dcterms:W3CDTF">2026-10-14T05:10:06Z</dcterms:created>
  <dcterms:modified xsi:type="dcterms:W3CDTF">2026-10-14T05:10:06Z</dcterms:modified>
</cp:coreProperties>
</file>